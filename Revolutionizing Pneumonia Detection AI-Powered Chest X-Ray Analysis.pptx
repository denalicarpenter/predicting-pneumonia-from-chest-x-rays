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32"/>
  </p:notesMasterIdLst>
  <p:sldIdLst>
    <p:sldId id="256" r:id="rId3"/>
    <p:sldId id="280" r:id="rId4"/>
    <p:sldId id="281"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82" r:id="rId21"/>
    <p:sldId id="283" r:id="rId22"/>
    <p:sldId id="272" r:id="rId23"/>
    <p:sldId id="273" r:id="rId24"/>
    <p:sldId id="284" r:id="rId25"/>
    <p:sldId id="285" r:id="rId26"/>
    <p:sldId id="276" r:id="rId27"/>
    <p:sldId id="277" r:id="rId28"/>
    <p:sldId id="278" r:id="rId29"/>
    <p:sldId id="279" r:id="rId30"/>
    <p:sldId id="286"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324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794134"/>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4.sv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40.jpeg"/><Relationship Id="rId5" Type="http://schemas.openxmlformats.org/officeDocument/2006/relationships/image" Target="../media/image39.jpg"/><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eg"/><Relationship Id="rId1" Type="http://schemas.openxmlformats.org/officeDocument/2006/relationships/slideLayout" Target="../slideLayouts/slideLayout1.xml"/><Relationship Id="rId4" Type="http://schemas.openxmlformats.org/officeDocument/2006/relationships/image" Target="../media/image40.jpeg"/></Relationships>
</file>

<file path=ppt/slides/_rels/slide2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jpeg"/><Relationship Id="rId2" Type="http://schemas.openxmlformats.org/officeDocument/2006/relationships/image" Target="../media/image57.jpeg"/><Relationship Id="rId1" Type="http://schemas.openxmlformats.org/officeDocument/2006/relationships/slideLayout" Target="../slideLayouts/slideLayout1.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Object 1" descr="Object 1"/>
          <p:cNvPicPr>
            <a:picLocks noChangeAspect="1"/>
          </p:cNvPicPr>
          <p:nvPr/>
        </p:nvPicPr>
        <p:blipFill>
          <a:blip r:embed="rId2"/>
          <a:stretch>
            <a:fillRect/>
          </a:stretch>
        </p:blipFill>
        <p:spPr>
          <a:xfrm>
            <a:off x="0" y="0"/>
            <a:ext cx="12188953" cy="114272"/>
          </a:xfrm>
          <a:prstGeom prst="rect">
            <a:avLst/>
          </a:prstGeom>
          <a:ln w="12700">
            <a:miter lim="400000"/>
          </a:ln>
        </p:spPr>
      </p:pic>
      <p:sp>
        <p:nvSpPr>
          <p:cNvPr id="21" name="Object 2"/>
          <p:cNvSpPr txBox="1"/>
          <p:nvPr/>
        </p:nvSpPr>
        <p:spPr>
          <a:xfrm>
            <a:off x="6094476" y="1423843"/>
            <a:ext cx="5838444" cy="2092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nSpc>
                <a:spcPts val="6000"/>
              </a:lnSpc>
              <a:defRPr sz="5400">
                <a:solidFill>
                  <a:srgbClr val="FFFFFF"/>
                </a:solidFill>
                <a:latin typeface="Montserrat Thin Bold"/>
                <a:ea typeface="Montserrat Thin Bold"/>
                <a:cs typeface="Montserrat Thin Bold"/>
                <a:sym typeface="Montserrat Thin Bold"/>
              </a:defRPr>
            </a:lvl1pPr>
          </a:lstStyle>
          <a:p>
            <a:pPr>
              <a:lnSpc>
                <a:spcPct val="100000"/>
              </a:lnSpc>
            </a:pPr>
            <a:r>
              <a:rPr lang="en-US" sz="3200" b="1" i="1" dirty="0">
                <a:latin typeface="Montserrat" panose="00000500000000000000" pitchFamily="2" charset="0"/>
              </a:rPr>
              <a:t>How AI is Advancing Early Pneumonia Detection and Improving Patient Care: </a:t>
            </a:r>
            <a:r>
              <a:rPr lang="en-US" sz="2000" i="1" dirty="0">
                <a:latin typeface="Montserrat" panose="00000500000000000000" pitchFamily="2" charset="0"/>
              </a:rPr>
              <a:t>Driving Better Patient Outcomes through AI-Based Chest X-Ray Analysis</a:t>
            </a:r>
            <a:endParaRPr lang="en-US" sz="3200" i="1" dirty="0">
              <a:latin typeface="Montserrat" panose="00000500000000000000" pitchFamily="2" charset="0"/>
            </a:endParaRPr>
          </a:p>
        </p:txBody>
      </p:sp>
      <p:pic>
        <p:nvPicPr>
          <p:cNvPr id="24" name="Object 5" descr="Object 5"/>
          <p:cNvPicPr>
            <a:picLocks noChangeAspect="1"/>
          </p:cNvPicPr>
          <p:nvPr/>
        </p:nvPicPr>
        <p:blipFill>
          <a:blip r:embed="rId3"/>
          <a:srcRect l="278" r="33387"/>
          <a:stretch>
            <a:fillRect/>
          </a:stretch>
        </p:blipFill>
        <p:spPr>
          <a:xfrm>
            <a:off x="190449" y="645631"/>
            <a:ext cx="5713573" cy="5742186"/>
          </a:xfrm>
          <a:prstGeom prst="rect">
            <a:avLst/>
          </a:prstGeom>
          <a:ln w="12700">
            <a:miter lim="400000"/>
          </a:ln>
        </p:spPr>
      </p:pic>
      <p:sp>
        <p:nvSpPr>
          <p:cNvPr id="25" name="Object 6"/>
          <p:cNvSpPr txBox="1"/>
          <p:nvPr/>
        </p:nvSpPr>
        <p:spPr>
          <a:xfrm>
            <a:off x="6094476" y="6177440"/>
            <a:ext cx="1822630" cy="210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Denali Carpenter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8475" cy="76181"/>
          </a:xfrm>
          <a:prstGeom prst="rect">
            <a:avLst/>
          </a:prstGeom>
        </p:spPr>
      </p:pic>
      <p:sp>
        <p:nvSpPr>
          <p:cNvPr id="3" name="Object 2"/>
          <p:cNvSpPr/>
          <p:nvPr/>
        </p:nvSpPr>
        <p:spPr>
          <a:xfrm>
            <a:off x="476131" y="376143"/>
            <a:ext cx="12188952" cy="533267"/>
          </a:xfrm>
          <a:prstGeom prst="rect">
            <a:avLst/>
          </a:prstGeom>
          <a:noFill/>
        </p:spPr>
        <p:txBody>
          <a:bodyPr wrap="square" lIns="0" tIns="0" rIns="0" bIns="0"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3750" b="0"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Why Pneumonia </a:t>
            </a:r>
            <a:r>
              <a:rPr lang="en-US" sz="3750" kern="1200" dirty="0">
                <a:latin typeface="Montserrat" pitchFamily="34" charset="0"/>
                <a:ea typeface="Montserrat" pitchFamily="34" charset="-122"/>
                <a:cs typeface="Montserrat" pitchFamily="34" charset="-120"/>
              </a:rPr>
              <a:t>M</a:t>
            </a:r>
            <a:r>
              <a:rPr kumimoji="0" lang="en-US" sz="3750" b="0" i="0" u="none" strike="noStrike" kern="1200" cap="none" spc="0" normalizeH="0" baseline="0" noProof="0" dirty="0" err="1">
                <a:ln>
                  <a:noFill/>
                </a:ln>
                <a:solidFill>
                  <a:srgbClr val="000000"/>
                </a:solidFill>
                <a:effectLst/>
                <a:uLnTx/>
                <a:uFillTx/>
                <a:latin typeface="Montserrat" pitchFamily="34" charset="0"/>
                <a:ea typeface="Montserrat" pitchFamily="34" charset="-122"/>
                <a:cs typeface="Montserrat" pitchFamily="34" charset="-120"/>
              </a:rPr>
              <a:t>atters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476006"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Object 4"/>
          <p:cNvSpPr/>
          <p:nvPr/>
        </p:nvSpPr>
        <p:spPr>
          <a:xfrm>
            <a:off x="1476006"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5635" y="2206603"/>
            <a:ext cx="561835" cy="638015"/>
          </a:xfrm>
          <a:prstGeom prst="rect">
            <a:avLst/>
          </a:prstGeom>
        </p:spPr>
      </p:pic>
      <p:sp>
        <p:nvSpPr>
          <p:cNvPr id="7" name="Object 6"/>
          <p:cNvSpPr/>
          <p:nvPr/>
        </p:nvSpPr>
        <p:spPr>
          <a:xfrm>
            <a:off x="341386" y="3342142"/>
            <a:ext cx="3697633"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Widespread &amp; Serious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341386" y="3700430"/>
            <a:ext cx="3697633" cy="639652"/>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Pneumonia is a leading cause of hospitalization and death worldwide, especially among young children and older adults.</a:t>
            </a: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
        <p:nvSpPr>
          <p:cNvPr id="9" name="Object 8"/>
          <p:cNvSpPr/>
          <p:nvPr/>
        </p:nvSpPr>
        <p:spPr>
          <a:xfrm>
            <a:off x="5380280"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bject 9"/>
          <p:cNvSpPr/>
          <p:nvPr/>
        </p:nvSpPr>
        <p:spPr>
          <a:xfrm>
            <a:off x="5380280"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34587" y="2189868"/>
            <a:ext cx="723719" cy="676106"/>
          </a:xfrm>
          <a:prstGeom prst="rect">
            <a:avLst/>
          </a:prstGeom>
        </p:spPr>
      </p:pic>
      <p:sp>
        <p:nvSpPr>
          <p:cNvPr id="12" name="Object 11"/>
          <p:cNvSpPr/>
          <p:nvPr/>
        </p:nvSpPr>
        <p:spPr>
          <a:xfrm>
            <a:off x="4408020" y="3342142"/>
            <a:ext cx="3372912"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Importance of Early Detection</a:t>
            </a:r>
          </a:p>
        </p:txBody>
      </p:sp>
      <p:sp>
        <p:nvSpPr>
          <p:cNvPr id="13" name="Object 12"/>
          <p:cNvSpPr/>
          <p:nvPr/>
        </p:nvSpPr>
        <p:spPr>
          <a:xfrm>
            <a:off x="4408020" y="3913647"/>
            <a:ext cx="3372912"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Montserrat" pitchFamily="34" charset="0"/>
                <a:ea typeface="Montserrat" pitchFamily="34" charset="-122"/>
                <a:cs typeface="Montserrat" pitchFamily="34" charset="-120"/>
              </a:rPr>
              <a:t>Prompt diagnosis can significantly reduce complications, hospital stays, and overall mortality rates.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284553"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Object 14"/>
          <p:cNvSpPr/>
          <p:nvPr/>
        </p:nvSpPr>
        <p:spPr>
          <a:xfrm>
            <a:off x="9284553"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05813" y="2223348"/>
            <a:ext cx="599925" cy="628493"/>
          </a:xfrm>
          <a:prstGeom prst="rect">
            <a:avLst/>
          </a:prstGeom>
        </p:spPr>
      </p:pic>
      <p:sp>
        <p:nvSpPr>
          <p:cNvPr id="17" name="Object 16"/>
          <p:cNvSpPr/>
          <p:nvPr/>
        </p:nvSpPr>
        <p:spPr>
          <a:xfrm>
            <a:off x="8197070" y="3342142"/>
            <a:ext cx="3603359"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Resource Constraints</a:t>
            </a:r>
          </a:p>
        </p:txBody>
      </p:sp>
      <p:sp>
        <p:nvSpPr>
          <p:cNvPr id="18" name="Object 17"/>
          <p:cNvSpPr/>
          <p:nvPr/>
        </p:nvSpPr>
        <p:spPr>
          <a:xfrm>
            <a:off x="8197070" y="3700430"/>
            <a:ext cx="3603359"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Many healthcare facilities face a shortage of radiologists, making timely diagnosis challenging.</a:t>
            </a: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8475" cy="76181"/>
          </a:xfrm>
          <a:prstGeom prst="rect">
            <a:avLst/>
          </a:prstGeom>
        </p:spPr>
      </p:pic>
      <p:sp>
        <p:nvSpPr>
          <p:cNvPr id="3" name="Object 2"/>
          <p:cNvSpPr/>
          <p:nvPr/>
        </p:nvSpPr>
        <p:spPr>
          <a:xfrm>
            <a:off x="476131" y="376143"/>
            <a:ext cx="12188952" cy="533267"/>
          </a:xfrm>
          <a:prstGeom prst="rect">
            <a:avLst/>
          </a:prstGeom>
          <a:noFill/>
        </p:spPr>
        <p:txBody>
          <a:bodyPr wrap="square" lIns="0" tIns="0" rIns="0" bIns="0"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3750" b="0"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How AI Can </a:t>
            </a:r>
            <a:r>
              <a:rPr lang="en-US" sz="3750" kern="1200" dirty="0">
                <a:latin typeface="Montserrat" pitchFamily="34" charset="0"/>
                <a:ea typeface="Montserrat" pitchFamily="34" charset="-122"/>
                <a:cs typeface="Montserrat" pitchFamily="34" charset="-120"/>
              </a:rPr>
              <a:t>H</a:t>
            </a:r>
            <a:r>
              <a:rPr kumimoji="0" lang="en-US" sz="3750" b="0" i="0" u="none" strike="noStrike" kern="1200" cap="none" spc="0" normalizeH="0" baseline="0" noProof="0" dirty="0" err="1">
                <a:ln>
                  <a:noFill/>
                </a:ln>
                <a:solidFill>
                  <a:srgbClr val="000000"/>
                </a:solidFill>
                <a:effectLst/>
                <a:uLnTx/>
                <a:uFillTx/>
                <a:latin typeface="Montserrat" pitchFamily="34" charset="0"/>
                <a:ea typeface="Montserrat" pitchFamily="34" charset="-122"/>
                <a:cs typeface="Montserrat" pitchFamily="34" charset="-120"/>
              </a:rPr>
              <a:t>elp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476006"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Object 4"/>
          <p:cNvSpPr/>
          <p:nvPr/>
        </p:nvSpPr>
        <p:spPr>
          <a:xfrm>
            <a:off x="1476006"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Object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1730" y="2306963"/>
            <a:ext cx="837990" cy="447563"/>
          </a:xfrm>
          <a:prstGeom prst="rect">
            <a:avLst/>
          </a:prstGeom>
        </p:spPr>
      </p:pic>
      <p:sp>
        <p:nvSpPr>
          <p:cNvPr id="7" name="Object 6"/>
          <p:cNvSpPr/>
          <p:nvPr/>
        </p:nvSpPr>
        <p:spPr>
          <a:xfrm>
            <a:off x="341386" y="3342142"/>
            <a:ext cx="3697633"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Faster X-Ray Analysis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8" name="Object 7"/>
          <p:cNvSpPr/>
          <p:nvPr/>
        </p:nvSpPr>
        <p:spPr>
          <a:xfrm>
            <a:off x="341386" y="3700430"/>
            <a:ext cx="3697633" cy="639652"/>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AI can quickly flag potential pneumonia cases on chest X-rays, acting as an extra set of expert eyes for busy radiologists.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Object 8"/>
          <p:cNvSpPr/>
          <p:nvPr/>
        </p:nvSpPr>
        <p:spPr>
          <a:xfrm>
            <a:off x="5380280"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bject 9"/>
          <p:cNvSpPr/>
          <p:nvPr/>
        </p:nvSpPr>
        <p:spPr>
          <a:xfrm>
            <a:off x="5380280"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8207" y="2256823"/>
            <a:ext cx="514221" cy="590402"/>
          </a:xfrm>
          <a:prstGeom prst="rect">
            <a:avLst/>
          </a:prstGeom>
        </p:spPr>
      </p:pic>
      <p:sp>
        <p:nvSpPr>
          <p:cNvPr id="12" name="Object 11"/>
          <p:cNvSpPr/>
          <p:nvPr/>
        </p:nvSpPr>
        <p:spPr>
          <a:xfrm>
            <a:off x="4408020" y="3342142"/>
            <a:ext cx="3372912"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High Accuracy</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13" name="Object 12"/>
          <p:cNvSpPr/>
          <p:nvPr/>
        </p:nvSpPr>
        <p:spPr>
          <a:xfrm>
            <a:off x="4408020" y="3700430"/>
            <a:ext cx="3372912"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Advanced deep learning models have demonstrated results comparable to experienced clinicians and radiologists, ensuring fewer missing cases.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Object 13"/>
          <p:cNvSpPr/>
          <p:nvPr/>
        </p:nvSpPr>
        <p:spPr>
          <a:xfrm>
            <a:off x="9284553" y="1818820"/>
            <a:ext cx="1428393" cy="1428393"/>
          </a:xfrm>
          <a:prstGeom prst="ellipse">
            <a:avLst/>
          </a:prstGeom>
          <a:solidFill>
            <a:srgbClr val="DC582A">
              <a:alpha val="30000"/>
            </a:srgbClr>
          </a:solid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Object 14"/>
          <p:cNvSpPr/>
          <p:nvPr/>
        </p:nvSpPr>
        <p:spPr>
          <a:xfrm>
            <a:off x="9284553" y="1818820"/>
            <a:ext cx="1428393" cy="1428393"/>
          </a:xfrm>
          <a:prstGeom prst="ellipse">
            <a:avLst/>
          </a:prstGeom>
          <a:noFill/>
          <a:ln w="25400">
            <a:solidFill>
              <a:srgbClr val="DC582A"/>
            </a:solidFill>
            <a:prstDash val="solid"/>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6" name="Object 1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14622" y="2139649"/>
            <a:ext cx="371382" cy="790377"/>
          </a:xfrm>
          <a:prstGeom prst="rect">
            <a:avLst/>
          </a:prstGeom>
        </p:spPr>
      </p:pic>
      <p:sp>
        <p:nvSpPr>
          <p:cNvPr id="17" name="Object 16"/>
          <p:cNvSpPr/>
          <p:nvPr/>
        </p:nvSpPr>
        <p:spPr>
          <a:xfrm>
            <a:off x="8197070" y="3342142"/>
            <a:ext cx="3603359" cy="255920"/>
          </a:xfrm>
          <a:prstGeom prst="rect">
            <a:avLst/>
          </a:prstGeom>
          <a:noFill/>
        </p:spPr>
        <p:txBody>
          <a:bodyPr wrap="square" lIns="0" tIns="0" rIns="0" bIns="0" rtlCol="0" anchor="t"/>
          <a:lstStyle/>
          <a:p>
            <a:pPr marL="0" marR="0" lvl="0" indent="0" algn="ctr" defTabSz="914400" rtl="0" eaLnBrk="1" fontAlgn="auto" latinLnBrk="0" hangingPunct="1">
              <a:lnSpc>
                <a:spcPts val="2016"/>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Montserrat" pitchFamily="34" charset="0"/>
                <a:ea typeface="Montserrat" pitchFamily="34" charset="-122"/>
                <a:cs typeface="Montserrat" pitchFamily="34" charset="-120"/>
              </a:rPr>
              <a:t>Better Patient Outcomes</a:t>
            </a:r>
            <a:endParaRPr kumimoji="0" lang="en-US" sz="1800" b="1" i="0" u="none" strike="noStrike" kern="1200" cap="none" spc="0" normalizeH="0" baseline="0" noProof="0" dirty="0">
              <a:ln>
                <a:noFill/>
              </a:ln>
              <a:solidFill>
                <a:prstClr val="black"/>
              </a:solidFill>
              <a:effectLst/>
              <a:uLnTx/>
              <a:uFillTx/>
              <a:latin typeface="Arial"/>
              <a:ea typeface="+mn-ea"/>
              <a:cs typeface="+mn-cs"/>
            </a:endParaRPr>
          </a:p>
        </p:txBody>
      </p:sp>
      <p:sp>
        <p:nvSpPr>
          <p:cNvPr id="18" name="Object 17"/>
          <p:cNvSpPr/>
          <p:nvPr/>
        </p:nvSpPr>
        <p:spPr>
          <a:xfrm>
            <a:off x="8197070" y="3700430"/>
            <a:ext cx="3603359" cy="852870"/>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791"/>
              </a:spcBef>
              <a:spcAft>
                <a:spcPts val="0"/>
              </a:spcAft>
              <a:buClrTx/>
              <a:buSzTx/>
              <a:buFontTx/>
              <a:buNone/>
              <a:tabLst/>
              <a:defRPr/>
            </a:pPr>
            <a:r>
              <a:rPr kumimoji="0" lang="en-US" sz="150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Earlier detection means faster treatment and improved recovery, ultimately saving lives and resources.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Object 18"/>
          <p:cNvSpPr/>
          <p:nvPr/>
        </p:nvSpPr>
        <p:spPr>
          <a:xfrm>
            <a:off x="0" y="5246963"/>
            <a:ext cx="12188952" cy="1609323"/>
          </a:xfrm>
          <a:prstGeom prst="rect">
            <a:avLst/>
          </a:prstGeom>
          <a:solidFill>
            <a:srgbClr val="758CC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Object 19"/>
          <p:cNvSpPr/>
          <p:nvPr/>
        </p:nvSpPr>
        <p:spPr>
          <a:xfrm>
            <a:off x="1621702" y="5567905"/>
            <a:ext cx="8945548" cy="959701"/>
          </a:xfrm>
          <a:prstGeom prst="rect">
            <a:avLst/>
          </a:prstGeom>
          <a:noFill/>
        </p:spPr>
        <p:txBody>
          <a:bodyPr wrap="square" lIns="0" tIns="0" rIns="0" bIns="0" rtlCol="0" anchor="ct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FFFFF"/>
                </a:solidFill>
                <a:effectLst/>
                <a:uLnTx/>
                <a:uFillTx/>
                <a:latin typeface="Montserrat" pitchFamily="34" charset="0"/>
                <a:ea typeface="Montserrat" pitchFamily="34" charset="-122"/>
                <a:cs typeface="Montserrat" pitchFamily="34" charset="-120"/>
              </a:rPr>
              <a:t>By harnessing AI for chest X-ray interpretation, healthcare providers can deliver more efficient, accurate, and timely pneumonia diagnoses – improving both patient outcomes and the overall healthcare system.</a:t>
            </a:r>
            <a:endParaRPr kumimoji="0" lang="en-US" sz="1200" b="0" i="1"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7"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8" name="Object 2"/>
          <p:cNvSpPr txBox="1"/>
          <p:nvPr/>
        </p:nvSpPr>
        <p:spPr>
          <a:xfrm>
            <a:off x="476130" y="376142"/>
            <a:ext cx="11003388"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Overview</a:t>
            </a:r>
          </a:p>
        </p:txBody>
      </p:sp>
      <p:sp>
        <p:nvSpPr>
          <p:cNvPr id="29" name="Object 3"/>
          <p:cNvSpPr/>
          <p:nvPr/>
        </p:nvSpPr>
        <p:spPr>
          <a:xfrm>
            <a:off x="1095100" y="1914045"/>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30" name="Object 4"/>
          <p:cNvSpPr/>
          <p:nvPr/>
        </p:nvSpPr>
        <p:spPr>
          <a:xfrm>
            <a:off x="1095100" y="1914045"/>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31" name="Object 5" descr="Object 5"/>
          <p:cNvPicPr>
            <a:picLocks noChangeAspect="1"/>
          </p:cNvPicPr>
          <p:nvPr/>
        </p:nvPicPr>
        <p:blipFill>
          <a:blip r:embed="rId3"/>
          <a:stretch>
            <a:fillRect/>
          </a:stretch>
        </p:blipFill>
        <p:spPr>
          <a:xfrm>
            <a:off x="1347581" y="2099567"/>
            <a:ext cx="209499" cy="342815"/>
          </a:xfrm>
          <a:prstGeom prst="rect">
            <a:avLst/>
          </a:prstGeom>
          <a:ln w="12700">
            <a:miter lim="400000"/>
          </a:ln>
        </p:spPr>
      </p:pic>
      <p:sp>
        <p:nvSpPr>
          <p:cNvPr id="32" name="Object 6"/>
          <p:cNvSpPr txBox="1"/>
          <p:nvPr/>
        </p:nvSpPr>
        <p:spPr>
          <a:xfrm>
            <a:off x="1999749" y="1870823"/>
            <a:ext cx="4242329"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dirty="0">
                <a:latin typeface="Montserrat" panose="00000500000000000000" pitchFamily="2" charset="0"/>
              </a:rPr>
              <a:t>1. Problem Statement</a:t>
            </a:r>
          </a:p>
        </p:txBody>
      </p:sp>
      <p:sp>
        <p:nvSpPr>
          <p:cNvPr id="33" name="Object 7"/>
          <p:cNvSpPr txBox="1"/>
          <p:nvPr/>
        </p:nvSpPr>
        <p:spPr>
          <a:xfrm>
            <a:off x="1999749" y="2229186"/>
            <a:ext cx="4242329" cy="413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solidFill>
                  <a:schemeClr val="tx1">
                    <a:alpha val="80000"/>
                  </a:schemeClr>
                </a:solidFill>
                <a:latin typeface="Montserrat" panose="00000500000000000000" pitchFamily="2" charset="0"/>
              </a:rPr>
              <a:t>Use machine learning to classify chest x-rays and evaluate efficacy.</a:t>
            </a:r>
          </a:p>
        </p:txBody>
      </p:sp>
      <p:sp>
        <p:nvSpPr>
          <p:cNvPr id="34" name="Object 8"/>
          <p:cNvSpPr/>
          <p:nvPr/>
        </p:nvSpPr>
        <p:spPr>
          <a:xfrm>
            <a:off x="1095100" y="3104374"/>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35" name="Object 9"/>
          <p:cNvSpPr/>
          <p:nvPr/>
        </p:nvSpPr>
        <p:spPr>
          <a:xfrm>
            <a:off x="1095100" y="3104374"/>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36" name="Object 10" descr="Object 10"/>
          <p:cNvPicPr>
            <a:picLocks noChangeAspect="1"/>
          </p:cNvPicPr>
          <p:nvPr/>
        </p:nvPicPr>
        <p:blipFill>
          <a:blip r:embed="rId4"/>
          <a:stretch>
            <a:fillRect/>
          </a:stretch>
        </p:blipFill>
        <p:spPr>
          <a:xfrm>
            <a:off x="1268068" y="3315003"/>
            <a:ext cx="380906" cy="314247"/>
          </a:xfrm>
          <a:prstGeom prst="rect">
            <a:avLst/>
          </a:prstGeom>
          <a:ln w="12700">
            <a:miter lim="400000"/>
          </a:ln>
        </p:spPr>
      </p:pic>
      <p:sp>
        <p:nvSpPr>
          <p:cNvPr id="37" name="Object 11"/>
          <p:cNvSpPr txBox="1"/>
          <p:nvPr/>
        </p:nvSpPr>
        <p:spPr>
          <a:xfrm>
            <a:off x="1999749" y="3061149"/>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2. Data</a:t>
            </a:r>
          </a:p>
        </p:txBody>
      </p:sp>
      <p:sp>
        <p:nvSpPr>
          <p:cNvPr id="38" name="Object 12"/>
          <p:cNvSpPr txBox="1"/>
          <p:nvPr/>
        </p:nvSpPr>
        <p:spPr>
          <a:xfrm>
            <a:off x="1999749" y="3419512"/>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Chest X-Ray images from academic research were used.</a:t>
            </a:r>
          </a:p>
        </p:txBody>
      </p:sp>
      <p:sp>
        <p:nvSpPr>
          <p:cNvPr id="39" name="Object 13"/>
          <p:cNvSpPr/>
          <p:nvPr/>
        </p:nvSpPr>
        <p:spPr>
          <a:xfrm>
            <a:off x="1095100" y="4294701"/>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40" name="Object 14"/>
          <p:cNvSpPr/>
          <p:nvPr/>
        </p:nvSpPr>
        <p:spPr>
          <a:xfrm>
            <a:off x="1095100" y="4294701"/>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41" name="Object 15" descr="Object 15"/>
          <p:cNvPicPr>
            <a:picLocks noChangeAspect="1"/>
          </p:cNvPicPr>
          <p:nvPr/>
        </p:nvPicPr>
        <p:blipFill>
          <a:blip r:embed="rId5"/>
          <a:stretch>
            <a:fillRect/>
          </a:stretch>
        </p:blipFill>
        <p:spPr>
          <a:xfrm>
            <a:off x="1318289" y="4517885"/>
            <a:ext cx="285680" cy="285680"/>
          </a:xfrm>
          <a:prstGeom prst="rect">
            <a:avLst/>
          </a:prstGeom>
          <a:ln w="12700">
            <a:miter lim="400000"/>
          </a:ln>
        </p:spPr>
      </p:pic>
      <p:sp>
        <p:nvSpPr>
          <p:cNvPr id="42" name="Object 16"/>
          <p:cNvSpPr txBox="1"/>
          <p:nvPr/>
        </p:nvSpPr>
        <p:spPr>
          <a:xfrm>
            <a:off x="1999749" y="4251476"/>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3. Data Exploration</a:t>
            </a:r>
          </a:p>
        </p:txBody>
      </p:sp>
      <p:sp>
        <p:nvSpPr>
          <p:cNvPr id="43" name="Object 17"/>
          <p:cNvSpPr txBox="1"/>
          <p:nvPr/>
        </p:nvSpPr>
        <p:spPr>
          <a:xfrm>
            <a:off x="1999749" y="4609839"/>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Image differences between pneumonia and healthy were explored.</a:t>
            </a:r>
          </a:p>
        </p:txBody>
      </p:sp>
      <p:sp>
        <p:nvSpPr>
          <p:cNvPr id="44" name="Object 18"/>
          <p:cNvSpPr/>
          <p:nvPr/>
        </p:nvSpPr>
        <p:spPr>
          <a:xfrm>
            <a:off x="6332540" y="1914045"/>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45" name="Object 19"/>
          <p:cNvSpPr/>
          <p:nvPr/>
        </p:nvSpPr>
        <p:spPr>
          <a:xfrm>
            <a:off x="6332540" y="1914045"/>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46" name="Object 20" descr="Object 20"/>
          <p:cNvPicPr>
            <a:picLocks noChangeAspect="1"/>
          </p:cNvPicPr>
          <p:nvPr/>
        </p:nvPicPr>
        <p:blipFill>
          <a:blip r:embed="rId6"/>
          <a:stretch>
            <a:fillRect/>
          </a:stretch>
        </p:blipFill>
        <p:spPr>
          <a:xfrm>
            <a:off x="6513879" y="2099567"/>
            <a:ext cx="352338" cy="352338"/>
          </a:xfrm>
          <a:prstGeom prst="rect">
            <a:avLst/>
          </a:prstGeom>
          <a:ln w="12700">
            <a:miter lim="400000"/>
          </a:ln>
        </p:spPr>
      </p:pic>
      <p:sp>
        <p:nvSpPr>
          <p:cNvPr id="47" name="Object 21"/>
          <p:cNvSpPr txBox="1"/>
          <p:nvPr/>
        </p:nvSpPr>
        <p:spPr>
          <a:xfrm>
            <a:off x="7237189" y="1870823"/>
            <a:ext cx="4242329"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dirty="0">
                <a:latin typeface="Montserrat" panose="00000500000000000000" pitchFamily="2" charset="0"/>
              </a:rPr>
              <a:t>4. Data Processing</a:t>
            </a:r>
          </a:p>
        </p:txBody>
      </p:sp>
      <p:sp>
        <p:nvSpPr>
          <p:cNvPr id="48" name="Object 22"/>
          <p:cNvSpPr txBox="1"/>
          <p:nvPr/>
        </p:nvSpPr>
        <p:spPr>
          <a:xfrm>
            <a:off x="7237189" y="2229186"/>
            <a:ext cx="4242329" cy="413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Images were prepped for use in traditional ML and Deep Learning</a:t>
            </a:r>
          </a:p>
        </p:txBody>
      </p:sp>
      <p:sp>
        <p:nvSpPr>
          <p:cNvPr id="49" name="Object 23"/>
          <p:cNvSpPr/>
          <p:nvPr/>
        </p:nvSpPr>
        <p:spPr>
          <a:xfrm>
            <a:off x="6332540" y="3104374"/>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50" name="Object 24"/>
          <p:cNvSpPr/>
          <p:nvPr/>
        </p:nvSpPr>
        <p:spPr>
          <a:xfrm>
            <a:off x="6332540" y="3104374"/>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51" name="Object 25" descr="Object 25"/>
          <p:cNvPicPr>
            <a:picLocks noChangeAspect="1"/>
          </p:cNvPicPr>
          <p:nvPr/>
        </p:nvPicPr>
        <p:blipFill>
          <a:blip r:embed="rId7"/>
          <a:stretch>
            <a:fillRect/>
          </a:stretch>
        </p:blipFill>
        <p:spPr>
          <a:xfrm>
            <a:off x="6547359" y="3340113"/>
            <a:ext cx="285680" cy="238066"/>
          </a:xfrm>
          <a:prstGeom prst="rect">
            <a:avLst/>
          </a:prstGeom>
          <a:ln w="12700">
            <a:miter lim="400000"/>
          </a:ln>
        </p:spPr>
      </p:pic>
      <p:sp>
        <p:nvSpPr>
          <p:cNvPr id="52" name="Object 26"/>
          <p:cNvSpPr txBox="1"/>
          <p:nvPr/>
        </p:nvSpPr>
        <p:spPr>
          <a:xfrm>
            <a:off x="7237189" y="3061149"/>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5. Modeling</a:t>
            </a:r>
          </a:p>
        </p:txBody>
      </p:sp>
      <p:sp>
        <p:nvSpPr>
          <p:cNvPr id="53" name="Object 27"/>
          <p:cNvSpPr txBox="1"/>
          <p:nvPr/>
        </p:nvSpPr>
        <p:spPr>
          <a:xfrm>
            <a:off x="7237189" y="3419512"/>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Use traditional ML, neural networks, and transfer learning</a:t>
            </a:r>
          </a:p>
        </p:txBody>
      </p:sp>
      <p:sp>
        <p:nvSpPr>
          <p:cNvPr id="54" name="Object 28"/>
          <p:cNvSpPr/>
          <p:nvPr/>
        </p:nvSpPr>
        <p:spPr>
          <a:xfrm>
            <a:off x="6332540" y="4294701"/>
            <a:ext cx="714197" cy="71419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55" name="Object 29"/>
          <p:cNvSpPr/>
          <p:nvPr/>
        </p:nvSpPr>
        <p:spPr>
          <a:xfrm>
            <a:off x="6332540" y="4294701"/>
            <a:ext cx="714197" cy="71419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56" name="Object 30" descr="Object 30"/>
          <p:cNvPicPr>
            <a:picLocks noChangeAspect="1"/>
          </p:cNvPicPr>
          <p:nvPr/>
        </p:nvPicPr>
        <p:blipFill>
          <a:blip r:embed="rId3"/>
          <a:stretch>
            <a:fillRect/>
          </a:stretch>
        </p:blipFill>
        <p:spPr>
          <a:xfrm>
            <a:off x="6585023" y="4480223"/>
            <a:ext cx="209499" cy="342815"/>
          </a:xfrm>
          <a:prstGeom prst="rect">
            <a:avLst/>
          </a:prstGeom>
          <a:ln w="12700">
            <a:miter lim="400000"/>
          </a:ln>
        </p:spPr>
      </p:pic>
      <p:sp>
        <p:nvSpPr>
          <p:cNvPr id="57" name="Object 31"/>
          <p:cNvSpPr txBox="1"/>
          <p:nvPr/>
        </p:nvSpPr>
        <p:spPr>
          <a:xfrm>
            <a:off x="7237189" y="4251476"/>
            <a:ext cx="4242329" cy="260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6. Conclusion</a:t>
            </a:r>
          </a:p>
        </p:txBody>
      </p:sp>
      <p:sp>
        <p:nvSpPr>
          <p:cNvPr id="58" name="Object 32"/>
          <p:cNvSpPr txBox="1"/>
          <p:nvPr/>
        </p:nvSpPr>
        <p:spPr>
          <a:xfrm>
            <a:off x="7237189" y="4609839"/>
            <a:ext cx="4242329" cy="4135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Best model comparable to trained radiologist.</a:t>
            </a:r>
          </a:p>
        </p:txBody>
      </p:sp>
      <p:sp>
        <p:nvSpPr>
          <p:cNvPr id="59" name="Object 33"/>
          <p:cNvSpPr/>
          <p:nvPr/>
        </p:nvSpPr>
        <p:spPr>
          <a:xfrm>
            <a:off x="-1" y="5827843"/>
            <a:ext cx="12188954" cy="1028444"/>
          </a:xfrm>
          <a:prstGeom prst="rect">
            <a:avLst/>
          </a:prstGeom>
          <a:solidFill>
            <a:srgbClr val="DC582A"/>
          </a:solidFill>
          <a:ln w="12700">
            <a:miter lim="400000"/>
          </a:ln>
        </p:spPr>
        <p:txBody>
          <a:bodyPr lIns="45719" rIns="45719"/>
          <a:lstStyle/>
          <a:p>
            <a:endParaRPr>
              <a:latin typeface="Montserrat" panose="00000500000000000000" pitchFamily="2" charset="0"/>
            </a:endParaRPr>
          </a:p>
        </p:txBody>
      </p:sp>
      <p:sp>
        <p:nvSpPr>
          <p:cNvPr id="60" name="Object 34"/>
          <p:cNvSpPr txBox="1"/>
          <p:nvPr/>
        </p:nvSpPr>
        <p:spPr>
          <a:xfrm>
            <a:off x="2143881" y="6184023"/>
            <a:ext cx="7901170" cy="3093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200"/>
              </a:lnSpc>
              <a:defRPr sz="1100">
                <a:solidFill>
                  <a:srgbClr val="FFFFFF"/>
                </a:solidFill>
                <a:latin typeface="Montserrat Thin Regular"/>
                <a:ea typeface="Montserrat Thin Regular"/>
                <a:cs typeface="Montserrat Thin Regular"/>
                <a:sym typeface="Montserrat Thin Regular"/>
              </a:defRPr>
            </a:lvl1pPr>
          </a:lstStyle>
          <a:p>
            <a:r>
              <a:rPr i="1" dirty="0">
                <a:latin typeface="Montserrat" panose="00000500000000000000" pitchFamily="2" charset="0"/>
              </a:rPr>
              <a:t>This presentation showcases how advanced machine learning techniques can revolutionize pneumonia detection, leading to better patient outcomes and more efficient treatment strategies.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62" name="Object 1"/>
          <p:cNvSpPr txBox="1"/>
          <p:nvPr/>
        </p:nvSpPr>
        <p:spPr>
          <a:xfrm>
            <a:off x="776092" y="2146948"/>
            <a:ext cx="10636767"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1. Problem Statement</a:t>
            </a:r>
          </a:p>
        </p:txBody>
      </p:sp>
      <p:sp>
        <p:nvSpPr>
          <p:cNvPr id="63" name="Object 2"/>
          <p:cNvSpPr txBox="1"/>
          <p:nvPr/>
        </p:nvSpPr>
        <p:spPr>
          <a:xfrm>
            <a:off x="776092" y="2506893"/>
            <a:ext cx="10636767" cy="2257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400"/>
              </a:lnSpc>
              <a:spcBef>
                <a:spcPts val="1100"/>
              </a:spcBef>
              <a:defRPr sz="42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Evaluating the Effectiveness of Machine Learning Techniques for Bacterial and Viral Pneumonia Detection in Chest X-Ray Images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Object 1" descr="Object 1"/>
          <p:cNvPicPr>
            <a:picLocks noChangeAspect="1"/>
          </p:cNvPicPr>
          <p:nvPr/>
        </p:nvPicPr>
        <p:blipFill>
          <a:blip r:embed="rId2"/>
          <a:stretch>
            <a:fillRect/>
          </a:stretch>
        </p:blipFill>
        <p:spPr>
          <a:xfrm>
            <a:off x="0" y="0"/>
            <a:ext cx="12188953" cy="76182"/>
          </a:xfrm>
          <a:prstGeom prst="rect">
            <a:avLst/>
          </a:prstGeom>
          <a:ln w="12700">
            <a:miter lim="400000"/>
          </a:ln>
        </p:spPr>
      </p:pic>
      <p:sp>
        <p:nvSpPr>
          <p:cNvPr id="66"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Research Questions</a:t>
            </a:r>
          </a:p>
        </p:txBody>
      </p:sp>
      <p:sp>
        <p:nvSpPr>
          <p:cNvPr id="67" name="Object 3"/>
          <p:cNvSpPr txBox="1"/>
          <p:nvPr/>
        </p:nvSpPr>
        <p:spPr>
          <a:xfrm>
            <a:off x="2237815" y="2465837"/>
            <a:ext cx="8484653" cy="26133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42899" indent="-242899">
              <a:lnSpc>
                <a:spcPts val="3000"/>
              </a:lnSpc>
              <a:buSzPct val="100000"/>
              <a:buChar char="•"/>
              <a:defRPr sz="2700">
                <a:solidFill>
                  <a:srgbClr val="FFFFFF"/>
                </a:solidFill>
                <a:latin typeface="Montserrat Thin Regular"/>
                <a:ea typeface="Montserrat Thin Regular"/>
                <a:cs typeface="Montserrat Thin Regular"/>
                <a:sym typeface="Montserrat Thin Regular"/>
              </a:defRPr>
            </a:pPr>
            <a:r>
              <a:rPr>
                <a:latin typeface="Montserrat" panose="00000500000000000000" pitchFamily="2" charset="0"/>
              </a:rPr>
              <a:t>What is the most effective and efficient model for predicting pneumonia diagnoses from chest x-ray images?</a:t>
            </a:r>
          </a:p>
          <a:p>
            <a:pPr marL="242899" indent="-242899">
              <a:lnSpc>
                <a:spcPts val="3000"/>
              </a:lnSpc>
              <a:spcBef>
                <a:spcPts val="2500"/>
              </a:spcBef>
              <a:buSzPct val="100000"/>
              <a:buChar char="•"/>
              <a:defRPr sz="2700" i="1">
                <a:solidFill>
                  <a:srgbClr val="FFFFFF"/>
                </a:solidFill>
                <a:latin typeface="Montserrat Thin Regular"/>
                <a:ea typeface="Montserrat Thin Regular"/>
                <a:cs typeface="Montserrat Thin Regular"/>
                <a:sym typeface="Montserrat Thin Regular"/>
              </a:defRPr>
            </a:pPr>
            <a:r>
              <a:rPr>
                <a:latin typeface="Montserrat" panose="00000500000000000000" pitchFamily="2" charset="0"/>
              </a:rPr>
              <a:t>Follow Up</a:t>
            </a:r>
            <a:r>
              <a:rPr i="0">
                <a:latin typeface="Montserrat" panose="00000500000000000000" pitchFamily="2" charset="0"/>
              </a:rPr>
              <a:t>: Can we accurately distinguish between viral and bacterial pneumonia via chest x-ray images?</a:t>
            </a:r>
          </a:p>
        </p:txBody>
      </p:sp>
      <p:pic>
        <p:nvPicPr>
          <p:cNvPr id="68" name="Object 4" descr="Object 4"/>
          <p:cNvPicPr>
            <a:picLocks noChangeAspect="1"/>
          </p:cNvPicPr>
          <p:nvPr/>
        </p:nvPicPr>
        <p:blipFill>
          <a:blip r:embed="rId3"/>
          <a:stretch>
            <a:fillRect/>
          </a:stretch>
        </p:blipFill>
        <p:spPr>
          <a:xfrm>
            <a:off x="11170032" y="6531303"/>
            <a:ext cx="876082" cy="173833"/>
          </a:xfrm>
          <a:prstGeom prst="rect">
            <a:avLst/>
          </a:prstGeom>
          <a:ln w="12700">
            <a:miter lim="400000"/>
          </a:ln>
        </p:spPr>
      </p:pic>
      <p:sp>
        <p:nvSpPr>
          <p:cNvPr id="69" name="Object 5"/>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Object 1"/>
          <p:cNvSpPr txBox="1"/>
          <p:nvPr/>
        </p:nvSpPr>
        <p:spPr>
          <a:xfrm>
            <a:off x="2161157" y="661419"/>
            <a:ext cx="7866637"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 Data</a:t>
            </a:r>
          </a:p>
        </p:txBody>
      </p:sp>
      <p:sp>
        <p:nvSpPr>
          <p:cNvPr id="72" name="Object 2"/>
          <p:cNvSpPr txBox="1"/>
          <p:nvPr/>
        </p:nvSpPr>
        <p:spPr>
          <a:xfrm>
            <a:off x="2161157" y="979897"/>
            <a:ext cx="7866637" cy="7779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Chest </a:t>
            </a:r>
            <a:r>
              <a:rPr lang="en-US" dirty="0">
                <a:latin typeface="Montserrat" panose="00000500000000000000" pitchFamily="2" charset="0"/>
              </a:rPr>
              <a:t>X</a:t>
            </a:r>
            <a:r>
              <a:rPr dirty="0">
                <a:latin typeface="Montserrat" panose="00000500000000000000" pitchFamily="2" charset="0"/>
              </a:rPr>
              <a:t>-ray </a:t>
            </a:r>
            <a:r>
              <a:rPr lang="en-US" dirty="0">
                <a:latin typeface="Montserrat" panose="00000500000000000000" pitchFamily="2" charset="0"/>
              </a:rPr>
              <a:t>I</a:t>
            </a:r>
            <a:r>
              <a:rPr dirty="0">
                <a:latin typeface="Montserrat" panose="00000500000000000000" pitchFamily="2" charset="0"/>
              </a:rPr>
              <a:t>mages</a:t>
            </a:r>
          </a:p>
        </p:txBody>
      </p:sp>
      <p:sp>
        <p:nvSpPr>
          <p:cNvPr id="73" name="Object 3"/>
          <p:cNvSpPr/>
          <p:nvPr/>
        </p:nvSpPr>
        <p:spPr>
          <a:xfrm>
            <a:off x="3971824" y="1904524"/>
            <a:ext cx="4245368" cy="4245367"/>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pic>
        <p:nvPicPr>
          <p:cNvPr id="74" name="Object 4" descr="Object 4"/>
          <p:cNvPicPr>
            <a:picLocks noChangeAspect="1"/>
          </p:cNvPicPr>
          <p:nvPr/>
        </p:nvPicPr>
        <p:blipFill>
          <a:blip r:embed="rId2"/>
          <a:srcRect l="1" r="1"/>
          <a:stretch>
            <a:fillRect/>
          </a:stretch>
        </p:blipFill>
        <p:spPr>
          <a:xfrm>
            <a:off x="4407593" y="2793318"/>
            <a:ext cx="3373836" cy="24677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path>
            </a:pathLst>
          </a:custGeom>
          <a:ln w="12700">
            <a:miter lim="400000"/>
          </a:ln>
        </p:spPr>
      </p:pic>
      <p:sp>
        <p:nvSpPr>
          <p:cNvPr id="75" name="Object 5"/>
          <p:cNvSpPr/>
          <p:nvPr/>
        </p:nvSpPr>
        <p:spPr>
          <a:xfrm>
            <a:off x="3971824" y="1904524"/>
            <a:ext cx="4245368" cy="4245367"/>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77" name="Object 1"/>
          <p:cNvSpPr/>
          <p:nvPr/>
        </p:nvSpPr>
        <p:spPr>
          <a:xfrm>
            <a:off x="-1" y="-1"/>
            <a:ext cx="12188954" cy="6856288"/>
          </a:xfrm>
          <a:prstGeom prst="rect">
            <a:avLst/>
          </a:prstGeom>
          <a:solidFill>
            <a:srgbClr val="FFFFFF"/>
          </a:solidFill>
          <a:ln w="12700">
            <a:solidFill>
              <a:srgbClr val="000000">
                <a:alpha val="0"/>
              </a:srgbClr>
            </a:solidFill>
            <a:miter/>
          </a:ln>
        </p:spPr>
        <p:txBody>
          <a:bodyPr lIns="45719" rIns="45719"/>
          <a:lstStyle/>
          <a:p>
            <a:endParaRPr>
              <a:latin typeface="Montserrat" panose="00000500000000000000" pitchFamily="2" charset="0"/>
            </a:endParaRPr>
          </a:p>
        </p:txBody>
      </p:sp>
      <p:sp>
        <p:nvSpPr>
          <p:cNvPr id="78" name="Object 2"/>
          <p:cNvSpPr/>
          <p:nvPr/>
        </p:nvSpPr>
        <p:spPr>
          <a:xfrm>
            <a:off x="-1" y="-1"/>
            <a:ext cx="12188954" cy="6856288"/>
          </a:xfrm>
          <a:prstGeom prst="rect">
            <a:avLst/>
          </a:prstGeom>
          <a:ln w="12700">
            <a:solidFill>
              <a:srgbClr val="000000">
                <a:alpha val="0"/>
              </a:srgbClr>
            </a:solidFill>
            <a:miter/>
          </a:ln>
        </p:spPr>
        <p:txBody>
          <a:bodyPr lIns="45719" rIns="45719"/>
          <a:lstStyle/>
          <a:p>
            <a:endParaRPr>
              <a:latin typeface="Montserrat" panose="00000500000000000000" pitchFamily="2" charset="0"/>
            </a:endParaRPr>
          </a:p>
        </p:txBody>
      </p:sp>
      <p:pic>
        <p:nvPicPr>
          <p:cNvPr id="79" name="Object 3" descr="Object 3"/>
          <p:cNvPicPr>
            <a:picLocks noChangeAspect="1"/>
          </p:cNvPicPr>
          <p:nvPr/>
        </p:nvPicPr>
        <p:blipFill>
          <a:blip r:embed="rId2"/>
          <a:stretch>
            <a:fillRect/>
          </a:stretch>
        </p:blipFill>
        <p:spPr>
          <a:xfrm>
            <a:off x="1365897" y="537614"/>
            <a:ext cx="9457158" cy="6304801"/>
          </a:xfrm>
          <a:prstGeom prst="rect">
            <a:avLst/>
          </a:prstGeom>
          <a:ln w="12700">
            <a:miter lim="400000"/>
          </a:ln>
        </p:spPr>
      </p:pic>
      <p:sp>
        <p:nvSpPr>
          <p:cNvPr id="80" name="Object 4"/>
          <p:cNvSpPr txBox="1"/>
          <p:nvPr/>
        </p:nvSpPr>
        <p:spPr>
          <a:xfrm>
            <a:off x="-285680" y="150502"/>
            <a:ext cx="12760311" cy="210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defRPr sz="1500">
                <a:latin typeface="Montserrat Thin Regular"/>
                <a:ea typeface="Montserrat Thin Regular"/>
                <a:cs typeface="Montserrat Thin Regular"/>
                <a:sym typeface="Montserrat Thin Regular"/>
              </a:defRPr>
            </a:lvl1pPr>
          </a:lstStyle>
          <a:p>
            <a:r>
              <a:rPr>
                <a:latin typeface="Montserrat" panose="00000500000000000000" pitchFamily="2" charset="0"/>
              </a:rPr>
              <a:t>Raw Chest X-Ray Images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83"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Data Overview</a:t>
            </a:r>
            <a:r>
              <a:rPr lang="en-US" dirty="0">
                <a:latin typeface="Montserrat" panose="00000500000000000000" pitchFamily="2" charset="0"/>
              </a:rPr>
              <a:t>*</a:t>
            </a:r>
            <a:endParaRPr dirty="0">
              <a:latin typeface="Montserrat" panose="00000500000000000000" pitchFamily="2" charset="0"/>
            </a:endParaRPr>
          </a:p>
        </p:txBody>
      </p:sp>
      <p:sp>
        <p:nvSpPr>
          <p:cNvPr id="84" name="Object 3"/>
          <p:cNvSpPr/>
          <p:nvPr/>
        </p:nvSpPr>
        <p:spPr>
          <a:xfrm>
            <a:off x="476130" y="1571232"/>
            <a:ext cx="11236692" cy="4408972"/>
          </a:xfrm>
          <a:prstGeom prst="rect">
            <a:avLst/>
          </a:prstGeom>
          <a:solidFill>
            <a:srgbClr val="000000">
              <a:alpha val="0"/>
            </a:srgbClr>
          </a:solidFill>
          <a:ln w="12700">
            <a:miter lim="400000"/>
          </a:ln>
        </p:spPr>
        <p:txBody>
          <a:bodyPr lIns="45719" rIns="45719"/>
          <a:lstStyle/>
          <a:p>
            <a:endParaRPr>
              <a:latin typeface="Montserrat" panose="00000500000000000000" pitchFamily="2" charset="0"/>
            </a:endParaRPr>
          </a:p>
        </p:txBody>
      </p:sp>
      <p:pic>
        <p:nvPicPr>
          <p:cNvPr id="85" name="Object 4" descr="Object 4"/>
          <p:cNvPicPr>
            <a:picLocks noChangeAspect="1"/>
          </p:cNvPicPr>
          <p:nvPr/>
        </p:nvPicPr>
        <p:blipFill>
          <a:blip r:embed="rId3"/>
          <a:stretch>
            <a:fillRect/>
          </a:stretch>
        </p:blipFill>
        <p:spPr>
          <a:xfrm>
            <a:off x="476134" y="1571232"/>
            <a:ext cx="11255736" cy="4428019"/>
          </a:xfrm>
          <a:prstGeom prst="rect">
            <a:avLst/>
          </a:prstGeom>
          <a:ln w="12700">
            <a:miter lim="400000"/>
          </a:ln>
        </p:spPr>
      </p:pic>
      <p:pic>
        <p:nvPicPr>
          <p:cNvPr id="86" name="Object 5" descr="Object 5"/>
          <p:cNvPicPr>
            <a:picLocks noChangeAspect="1"/>
          </p:cNvPicPr>
          <p:nvPr/>
        </p:nvPicPr>
        <p:blipFill>
          <a:blip r:embed="rId4"/>
          <a:stretch>
            <a:fillRect/>
          </a:stretch>
        </p:blipFill>
        <p:spPr>
          <a:xfrm>
            <a:off x="476134" y="1571232"/>
            <a:ext cx="11236692" cy="4408972"/>
          </a:xfrm>
          <a:prstGeom prst="rect">
            <a:avLst/>
          </a:prstGeom>
          <a:ln w="12700">
            <a:miter lim="400000"/>
          </a:ln>
        </p:spPr>
      </p:pic>
      <p:sp>
        <p:nvSpPr>
          <p:cNvPr id="87" name="Object 6"/>
          <p:cNvSpPr txBox="1"/>
          <p:nvPr/>
        </p:nvSpPr>
        <p:spPr>
          <a:xfrm>
            <a:off x="521851"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Dataset</a:t>
            </a:r>
          </a:p>
        </p:txBody>
      </p:sp>
      <p:sp>
        <p:nvSpPr>
          <p:cNvPr id="88" name="Object 7"/>
          <p:cNvSpPr txBox="1"/>
          <p:nvPr/>
        </p:nvSpPr>
        <p:spPr>
          <a:xfrm>
            <a:off x="3331023"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Training</a:t>
            </a:r>
          </a:p>
        </p:txBody>
      </p:sp>
      <p:sp>
        <p:nvSpPr>
          <p:cNvPr id="89" name="Object 8"/>
          <p:cNvSpPr txBox="1"/>
          <p:nvPr/>
        </p:nvSpPr>
        <p:spPr>
          <a:xfrm>
            <a:off x="6140196" y="1571231"/>
            <a:ext cx="2717733"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Testing</a:t>
            </a:r>
          </a:p>
        </p:txBody>
      </p:sp>
      <p:sp>
        <p:nvSpPr>
          <p:cNvPr id="90" name="Object 9"/>
          <p:cNvSpPr txBox="1"/>
          <p:nvPr/>
        </p:nvSpPr>
        <p:spPr>
          <a:xfrm>
            <a:off x="8949368" y="1571231"/>
            <a:ext cx="2717734" cy="881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Validation</a:t>
            </a:r>
          </a:p>
        </p:txBody>
      </p:sp>
      <p:sp>
        <p:nvSpPr>
          <p:cNvPr id="91" name="Object 10"/>
          <p:cNvSpPr txBox="1"/>
          <p:nvPr/>
        </p:nvSpPr>
        <p:spPr>
          <a:xfrm>
            <a:off x="521851"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Total Images</a:t>
            </a:r>
          </a:p>
        </p:txBody>
      </p:sp>
      <p:sp>
        <p:nvSpPr>
          <p:cNvPr id="92" name="Object 11"/>
          <p:cNvSpPr txBox="1"/>
          <p:nvPr/>
        </p:nvSpPr>
        <p:spPr>
          <a:xfrm>
            <a:off x="3331023"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5,216</a:t>
            </a:r>
          </a:p>
        </p:txBody>
      </p:sp>
      <p:sp>
        <p:nvSpPr>
          <p:cNvPr id="93" name="Object 12"/>
          <p:cNvSpPr txBox="1"/>
          <p:nvPr/>
        </p:nvSpPr>
        <p:spPr>
          <a:xfrm>
            <a:off x="6140196" y="2453027"/>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624</a:t>
            </a:r>
          </a:p>
        </p:txBody>
      </p:sp>
      <p:sp>
        <p:nvSpPr>
          <p:cNvPr id="94" name="Object 13"/>
          <p:cNvSpPr txBox="1"/>
          <p:nvPr/>
        </p:nvSpPr>
        <p:spPr>
          <a:xfrm>
            <a:off x="8949368" y="2453027"/>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16</a:t>
            </a:r>
          </a:p>
        </p:txBody>
      </p:sp>
      <p:sp>
        <p:nvSpPr>
          <p:cNvPr id="95" name="Object 14"/>
          <p:cNvSpPr txBox="1"/>
          <p:nvPr/>
        </p:nvSpPr>
        <p:spPr>
          <a:xfrm>
            <a:off x="521851"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NORMAL</a:t>
            </a:r>
          </a:p>
        </p:txBody>
      </p:sp>
      <p:sp>
        <p:nvSpPr>
          <p:cNvPr id="96" name="Object 15"/>
          <p:cNvSpPr txBox="1"/>
          <p:nvPr/>
        </p:nvSpPr>
        <p:spPr>
          <a:xfrm>
            <a:off x="3331023"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1,341</a:t>
            </a:r>
          </a:p>
        </p:txBody>
      </p:sp>
      <p:sp>
        <p:nvSpPr>
          <p:cNvPr id="97" name="Object 16"/>
          <p:cNvSpPr txBox="1"/>
          <p:nvPr/>
        </p:nvSpPr>
        <p:spPr>
          <a:xfrm>
            <a:off x="6140196" y="3628752"/>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234</a:t>
            </a:r>
          </a:p>
        </p:txBody>
      </p:sp>
      <p:sp>
        <p:nvSpPr>
          <p:cNvPr id="98" name="Object 17"/>
          <p:cNvSpPr txBox="1"/>
          <p:nvPr/>
        </p:nvSpPr>
        <p:spPr>
          <a:xfrm>
            <a:off x="8949368" y="3628752"/>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8</a:t>
            </a:r>
          </a:p>
        </p:txBody>
      </p:sp>
      <p:sp>
        <p:nvSpPr>
          <p:cNvPr id="99" name="Object 18"/>
          <p:cNvSpPr txBox="1"/>
          <p:nvPr/>
        </p:nvSpPr>
        <p:spPr>
          <a:xfrm>
            <a:off x="521851"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PNEUMONIA</a:t>
            </a:r>
          </a:p>
        </p:txBody>
      </p:sp>
      <p:sp>
        <p:nvSpPr>
          <p:cNvPr id="100" name="Object 19"/>
          <p:cNvSpPr txBox="1"/>
          <p:nvPr/>
        </p:nvSpPr>
        <p:spPr>
          <a:xfrm>
            <a:off x="3331023"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3,875</a:t>
            </a:r>
          </a:p>
        </p:txBody>
      </p:sp>
      <p:sp>
        <p:nvSpPr>
          <p:cNvPr id="101" name="Object 20"/>
          <p:cNvSpPr txBox="1"/>
          <p:nvPr/>
        </p:nvSpPr>
        <p:spPr>
          <a:xfrm>
            <a:off x="6140196" y="4804478"/>
            <a:ext cx="2717733"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390</a:t>
            </a:r>
          </a:p>
        </p:txBody>
      </p:sp>
      <p:sp>
        <p:nvSpPr>
          <p:cNvPr id="102" name="Object 21"/>
          <p:cNvSpPr txBox="1"/>
          <p:nvPr/>
        </p:nvSpPr>
        <p:spPr>
          <a:xfrm>
            <a:off x="8949368" y="4804478"/>
            <a:ext cx="2717734" cy="11757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algn="ctr">
              <a:lnSpc>
                <a:spcPct val="80000"/>
              </a:lnSpc>
              <a:defRPr sz="1700">
                <a:latin typeface="Montserrat Thin Regular"/>
                <a:ea typeface="Montserrat Thin Regular"/>
                <a:cs typeface="Montserrat Thin Regular"/>
                <a:sym typeface="Montserrat Thin Regular"/>
              </a:defRPr>
            </a:lvl1pPr>
          </a:lstStyle>
          <a:p>
            <a:r>
              <a:rPr>
                <a:latin typeface="Montserrat" panose="00000500000000000000" pitchFamily="2" charset="0"/>
              </a:rPr>
              <a:t>8</a:t>
            </a:r>
          </a:p>
        </p:txBody>
      </p:sp>
      <p:pic>
        <p:nvPicPr>
          <p:cNvPr id="103" name="Object 22" descr="Object 22"/>
          <p:cNvPicPr>
            <a:picLocks noChangeAspect="1"/>
          </p:cNvPicPr>
          <p:nvPr/>
        </p:nvPicPr>
        <p:blipFill>
          <a:blip r:embed="rId5"/>
          <a:stretch>
            <a:fillRect/>
          </a:stretch>
        </p:blipFill>
        <p:spPr>
          <a:xfrm>
            <a:off x="11170032" y="6531303"/>
            <a:ext cx="876082" cy="173833"/>
          </a:xfrm>
          <a:prstGeom prst="rect">
            <a:avLst/>
          </a:prstGeom>
          <a:ln w="12700">
            <a:miter lim="400000"/>
          </a:ln>
        </p:spPr>
      </p:pic>
      <p:sp>
        <p:nvSpPr>
          <p:cNvPr id="104" name="Object 23"/>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
        <p:nvSpPr>
          <p:cNvPr id="105" name="Object 24"/>
          <p:cNvSpPr txBox="1"/>
          <p:nvPr/>
        </p:nvSpPr>
        <p:spPr>
          <a:xfrm>
            <a:off x="-476132" y="6138667"/>
            <a:ext cx="12188954" cy="1703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a:lnSpc>
                <a:spcPts val="1300"/>
              </a:lnSpc>
              <a:defRPr sz="12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*Counts show dataset before cleaning.</a:t>
            </a:r>
            <a:endParaRPr dirty="0">
              <a:latin typeface="Montserrat" panose="00000500000000000000" pitchFamily="2" charset="0"/>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107" name="Object 1"/>
          <p:cNvSpPr txBox="1"/>
          <p:nvPr/>
        </p:nvSpPr>
        <p:spPr>
          <a:xfrm>
            <a:off x="1464579" y="2175515"/>
            <a:ext cx="9259794"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3. Data Exploration</a:t>
            </a:r>
          </a:p>
        </p:txBody>
      </p:sp>
      <p:sp>
        <p:nvSpPr>
          <p:cNvPr id="108" name="Object 2"/>
          <p:cNvSpPr txBox="1"/>
          <p:nvPr/>
        </p:nvSpPr>
        <p:spPr>
          <a:xfrm>
            <a:off x="1464579" y="2494601"/>
            <a:ext cx="9259794" cy="227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Examin</a:t>
            </a:r>
            <a:r>
              <a:rPr lang="en-US" dirty="0">
                <a:latin typeface="Montserrat" panose="00000500000000000000" pitchFamily="2" charset="0"/>
              </a:rPr>
              <a:t>ing</a:t>
            </a:r>
            <a:r>
              <a:rPr dirty="0">
                <a:latin typeface="Montserrat" panose="00000500000000000000" pitchFamily="2" charset="0"/>
              </a:rPr>
              <a:t> </a:t>
            </a:r>
            <a:r>
              <a:rPr lang="en-US" dirty="0">
                <a:latin typeface="Montserrat" panose="00000500000000000000" pitchFamily="2" charset="0"/>
              </a:rPr>
              <a:t>D</a:t>
            </a:r>
            <a:r>
              <a:rPr dirty="0">
                <a:latin typeface="Montserrat" panose="00000500000000000000" pitchFamily="2" charset="0"/>
              </a:rPr>
              <a:t>ifferences in PNEUMONIA and NORMAL </a:t>
            </a:r>
            <a:r>
              <a:rPr lang="en-US" dirty="0">
                <a:latin typeface="Montserrat" panose="00000500000000000000" pitchFamily="2" charset="0"/>
              </a:rPr>
              <a:t>I</a:t>
            </a:r>
            <a:r>
              <a:rPr dirty="0">
                <a:latin typeface="Montserrat" panose="00000500000000000000" pitchFamily="2" charset="0"/>
              </a:rPr>
              <a:t>mages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110"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11"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dirty="0">
                <a:latin typeface="Montserrat" panose="00000500000000000000" pitchFamily="2" charset="0"/>
              </a:rPr>
              <a:t>Data </a:t>
            </a:r>
            <a:r>
              <a:rPr lang="en-US" dirty="0">
                <a:latin typeface="Montserrat" panose="00000500000000000000" pitchFamily="2" charset="0"/>
              </a:rPr>
              <a:t>E</a:t>
            </a:r>
            <a:r>
              <a:rPr dirty="0">
                <a:latin typeface="Montserrat" panose="00000500000000000000" pitchFamily="2" charset="0"/>
              </a:rPr>
              <a:t>xploration</a:t>
            </a:r>
          </a:p>
        </p:txBody>
      </p:sp>
      <p:sp>
        <p:nvSpPr>
          <p:cNvPr id="112" name="Object 3"/>
          <p:cNvSpPr/>
          <p:nvPr/>
        </p:nvSpPr>
        <p:spPr>
          <a:xfrm>
            <a:off x="987971"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13" name="Object 4"/>
          <p:cNvSpPr/>
          <p:nvPr/>
        </p:nvSpPr>
        <p:spPr>
          <a:xfrm>
            <a:off x="987971"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14" name="Object 5" descr="Object 5"/>
          <p:cNvPicPr>
            <a:picLocks noChangeAspect="1"/>
          </p:cNvPicPr>
          <p:nvPr/>
        </p:nvPicPr>
        <p:blipFill>
          <a:blip r:embed="rId3"/>
          <a:stretch>
            <a:fillRect/>
          </a:stretch>
        </p:blipFill>
        <p:spPr>
          <a:xfrm>
            <a:off x="1459452" y="2010238"/>
            <a:ext cx="485654" cy="638016"/>
          </a:xfrm>
          <a:prstGeom prst="rect">
            <a:avLst/>
          </a:prstGeom>
          <a:ln w="12700">
            <a:miter lim="400000"/>
          </a:ln>
        </p:spPr>
      </p:pic>
      <p:sp>
        <p:nvSpPr>
          <p:cNvPr id="115" name="Object 6"/>
          <p:cNvSpPr txBox="1"/>
          <p:nvPr/>
        </p:nvSpPr>
        <p:spPr>
          <a:xfrm>
            <a:off x="356145" y="3137330"/>
            <a:ext cx="2692046"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Brightness &amp; Contrast Differences</a:t>
            </a:r>
            <a:endParaRPr b="1" dirty="0">
              <a:latin typeface="Montserrat" panose="00000500000000000000" pitchFamily="2" charset="0"/>
            </a:endParaRPr>
          </a:p>
        </p:txBody>
      </p:sp>
      <p:sp>
        <p:nvSpPr>
          <p:cNvPr id="116" name="Object 7"/>
          <p:cNvSpPr txBox="1"/>
          <p:nvPr/>
        </p:nvSpPr>
        <p:spPr>
          <a:xfrm>
            <a:off x="356145" y="3755631"/>
            <a:ext cx="2692046"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Analyzed X-ray brightness and contrast levels to see how pneumonia images differ from healthy ones.</a:t>
            </a:r>
            <a:endParaRPr dirty="0">
              <a:latin typeface="Montserrat" panose="00000500000000000000" pitchFamily="2" charset="0"/>
            </a:endParaRPr>
          </a:p>
        </p:txBody>
      </p:sp>
      <p:sp>
        <p:nvSpPr>
          <p:cNvPr id="117" name="Object 8"/>
          <p:cNvSpPr/>
          <p:nvPr/>
        </p:nvSpPr>
        <p:spPr>
          <a:xfrm>
            <a:off x="3916176"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18" name="Object 9"/>
          <p:cNvSpPr/>
          <p:nvPr/>
        </p:nvSpPr>
        <p:spPr>
          <a:xfrm>
            <a:off x="3916176"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19" name="Object 10" descr="Object 10"/>
          <p:cNvPicPr>
            <a:picLocks noChangeAspect="1"/>
          </p:cNvPicPr>
          <p:nvPr/>
        </p:nvPicPr>
        <p:blipFill>
          <a:blip r:embed="rId4"/>
          <a:stretch>
            <a:fillRect/>
          </a:stretch>
        </p:blipFill>
        <p:spPr>
          <a:xfrm>
            <a:off x="4303964" y="2001867"/>
            <a:ext cx="666584" cy="657062"/>
          </a:xfrm>
          <a:prstGeom prst="rect">
            <a:avLst/>
          </a:prstGeom>
          <a:ln w="12700">
            <a:miter lim="400000"/>
          </a:ln>
        </p:spPr>
      </p:pic>
      <p:sp>
        <p:nvSpPr>
          <p:cNvPr id="120" name="Object 11"/>
          <p:cNvSpPr txBox="1"/>
          <p:nvPr/>
        </p:nvSpPr>
        <p:spPr>
          <a:xfrm>
            <a:off x="3294826" y="3137330"/>
            <a:ext cx="2671095"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Texture Patterns in Images</a:t>
            </a:r>
            <a:endParaRPr b="1" dirty="0">
              <a:latin typeface="Montserrat" panose="00000500000000000000" pitchFamily="2" charset="0"/>
            </a:endParaRPr>
          </a:p>
        </p:txBody>
      </p:sp>
      <p:sp>
        <p:nvSpPr>
          <p:cNvPr id="121" name="Object 12"/>
          <p:cNvSpPr txBox="1"/>
          <p:nvPr/>
        </p:nvSpPr>
        <p:spPr>
          <a:xfrm>
            <a:off x="3294826" y="3755631"/>
            <a:ext cx="2671095"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Examined patterns in the images to detect subtle texture differences that might indicate pneumonia</a:t>
            </a:r>
            <a:endParaRPr dirty="0">
              <a:latin typeface="Montserrat" panose="00000500000000000000" pitchFamily="2" charset="0"/>
            </a:endParaRPr>
          </a:p>
        </p:txBody>
      </p:sp>
      <p:sp>
        <p:nvSpPr>
          <p:cNvPr id="122" name="Object 13"/>
          <p:cNvSpPr/>
          <p:nvPr/>
        </p:nvSpPr>
        <p:spPr>
          <a:xfrm>
            <a:off x="6844382"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23" name="Object 14"/>
          <p:cNvSpPr/>
          <p:nvPr/>
        </p:nvSpPr>
        <p:spPr>
          <a:xfrm>
            <a:off x="6844382"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24" name="Object 15" descr="Object 15"/>
          <p:cNvPicPr>
            <a:picLocks noChangeAspect="1"/>
          </p:cNvPicPr>
          <p:nvPr/>
        </p:nvPicPr>
        <p:blipFill>
          <a:blip r:embed="rId5"/>
          <a:stretch>
            <a:fillRect/>
          </a:stretch>
        </p:blipFill>
        <p:spPr>
          <a:xfrm>
            <a:off x="7198669" y="2001870"/>
            <a:ext cx="733243" cy="657062"/>
          </a:xfrm>
          <a:prstGeom prst="rect">
            <a:avLst/>
          </a:prstGeom>
          <a:ln w="12700">
            <a:miter lim="400000"/>
          </a:ln>
        </p:spPr>
      </p:pic>
      <p:sp>
        <p:nvSpPr>
          <p:cNvPr id="125" name="Object 16"/>
          <p:cNvSpPr txBox="1"/>
          <p:nvPr/>
        </p:nvSpPr>
        <p:spPr>
          <a:xfrm>
            <a:off x="6280642" y="3137330"/>
            <a:ext cx="2555873"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Sharpness and Blurriness</a:t>
            </a:r>
            <a:endParaRPr b="1" dirty="0">
              <a:latin typeface="Montserrat" panose="00000500000000000000" pitchFamily="2" charset="0"/>
            </a:endParaRPr>
          </a:p>
        </p:txBody>
      </p:sp>
      <p:sp>
        <p:nvSpPr>
          <p:cNvPr id="126" name="Object 17"/>
          <p:cNvSpPr txBox="1"/>
          <p:nvPr/>
        </p:nvSpPr>
        <p:spPr>
          <a:xfrm>
            <a:off x="6280642" y="3755631"/>
            <a:ext cx="2555873" cy="9618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Checked how sharp or blurry different X-rays were, helping identify key differences between normal and pneumonia cases.</a:t>
            </a:r>
            <a:endParaRPr dirty="0">
              <a:latin typeface="Montserrat" panose="00000500000000000000" pitchFamily="2" charset="0"/>
            </a:endParaRPr>
          </a:p>
        </p:txBody>
      </p:sp>
      <p:sp>
        <p:nvSpPr>
          <p:cNvPr id="127" name="Object 18"/>
          <p:cNvSpPr/>
          <p:nvPr/>
        </p:nvSpPr>
        <p:spPr>
          <a:xfrm>
            <a:off x="9772587" y="1614084"/>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28" name="Object 19"/>
          <p:cNvSpPr/>
          <p:nvPr/>
        </p:nvSpPr>
        <p:spPr>
          <a:xfrm>
            <a:off x="9772587" y="1614084"/>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29" name="Object 20" descr="Object 20"/>
          <p:cNvPicPr>
            <a:picLocks noChangeAspect="1"/>
          </p:cNvPicPr>
          <p:nvPr/>
        </p:nvPicPr>
        <p:blipFill>
          <a:blip r:embed="rId6"/>
          <a:stretch>
            <a:fillRect/>
          </a:stretch>
        </p:blipFill>
        <p:spPr>
          <a:xfrm>
            <a:off x="10160373" y="2001870"/>
            <a:ext cx="657062" cy="657062"/>
          </a:xfrm>
          <a:prstGeom prst="rect">
            <a:avLst/>
          </a:prstGeom>
          <a:ln w="12700">
            <a:miter lim="400000"/>
          </a:ln>
        </p:spPr>
      </p:pic>
      <p:sp>
        <p:nvSpPr>
          <p:cNvPr id="130" name="Object 21"/>
          <p:cNvSpPr txBox="1"/>
          <p:nvPr/>
        </p:nvSpPr>
        <p:spPr>
          <a:xfrm>
            <a:off x="9140762" y="3137330"/>
            <a:ext cx="2692045"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lang="en-US" b="1" dirty="0">
                <a:latin typeface="Montserrat" panose="00000500000000000000" pitchFamily="2" charset="0"/>
              </a:rPr>
              <a:t>Simplifying the Data for AI</a:t>
            </a:r>
            <a:endParaRPr b="1" dirty="0">
              <a:latin typeface="Montserrat" panose="00000500000000000000" pitchFamily="2" charset="0"/>
            </a:endParaRPr>
          </a:p>
        </p:txBody>
      </p:sp>
      <p:sp>
        <p:nvSpPr>
          <p:cNvPr id="131" name="Object 22"/>
          <p:cNvSpPr txBox="1"/>
          <p:nvPr/>
        </p:nvSpPr>
        <p:spPr>
          <a:xfrm>
            <a:off x="9140762" y="3755631"/>
            <a:ext cx="2692045" cy="9618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500"/>
              </a:lnSpc>
              <a:spcBef>
                <a:spcPts val="800"/>
              </a:spcBef>
              <a:defRPr sz="13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Reduced the complexity of image data while keeping important details, making it easier for AI to learn patterns effectively.</a:t>
            </a:r>
            <a:endParaRPr dirty="0">
              <a:latin typeface="Montserrat" panose="00000500000000000000" pitchFamily="2" charset="0"/>
            </a:endParaRPr>
          </a:p>
        </p:txBody>
      </p:sp>
      <p:sp>
        <p:nvSpPr>
          <p:cNvPr id="132" name="Object 23"/>
          <p:cNvSpPr/>
          <p:nvPr/>
        </p:nvSpPr>
        <p:spPr>
          <a:xfrm>
            <a:off x="-1" y="5780230"/>
            <a:ext cx="12188954" cy="1076057"/>
          </a:xfrm>
          <a:prstGeom prst="rect">
            <a:avLst/>
          </a:prstGeom>
          <a:solidFill>
            <a:srgbClr val="0032A0"/>
          </a:solidFill>
          <a:ln w="12700">
            <a:miter lim="400000"/>
          </a:ln>
        </p:spPr>
        <p:txBody>
          <a:bodyPr lIns="45719" rIns="45719"/>
          <a:lstStyle/>
          <a:p>
            <a:endParaRPr>
              <a:latin typeface="Montserrat" panose="00000500000000000000" pitchFamily="2" charset="0"/>
            </a:endParaRPr>
          </a:p>
        </p:txBody>
      </p:sp>
      <p:sp>
        <p:nvSpPr>
          <p:cNvPr id="133" name="Object 24"/>
          <p:cNvSpPr txBox="1"/>
          <p:nvPr/>
        </p:nvSpPr>
        <p:spPr>
          <a:xfrm>
            <a:off x="356144" y="6124970"/>
            <a:ext cx="11476663" cy="3843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ctr">
              <a:lnSpc>
                <a:spcPts val="1500"/>
              </a:lnSpc>
              <a:defRPr sz="1300">
                <a:solidFill>
                  <a:srgbClr val="FFFFFF"/>
                </a:solidFill>
                <a:latin typeface="Montserrat Thin Regular"/>
                <a:ea typeface="Montserrat Thin Regular"/>
                <a:cs typeface="Montserrat Thin Regular"/>
                <a:sym typeface="Montserrat Thin Regular"/>
              </a:defRPr>
            </a:lvl1pPr>
          </a:lstStyle>
          <a:p>
            <a:r>
              <a:rPr lang="en-US" i="1" dirty="0">
                <a:latin typeface="Montserrat" panose="00000500000000000000" pitchFamily="2" charset="0"/>
              </a:rPr>
              <a:t>The data analysis revealed key differences between normal and pneumonia X-rays, helping to build an AI model that can detect pneumonia more accurately and efficiently.</a:t>
            </a:r>
            <a:endParaRPr i="1" dirty="0">
              <a:latin typeface="Montserrat" panose="00000500000000000000" pitchFamily="2" charset="0"/>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36" name="Object 2"/>
          <p:cNvSpPr txBox="1"/>
          <p:nvPr/>
        </p:nvSpPr>
        <p:spPr>
          <a:xfrm>
            <a:off x="476130" y="376142"/>
            <a:ext cx="9627990"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Most </a:t>
            </a:r>
            <a:r>
              <a:rPr lang="en-US" dirty="0">
                <a:latin typeface="Montserrat" panose="00000500000000000000" pitchFamily="2" charset="0"/>
              </a:rPr>
              <a:t>I</a:t>
            </a:r>
            <a:r>
              <a:rPr dirty="0">
                <a:latin typeface="Montserrat" panose="00000500000000000000" pitchFamily="2" charset="0"/>
              </a:rPr>
              <a:t>mages are of </a:t>
            </a:r>
            <a:r>
              <a:rPr lang="en-US" dirty="0">
                <a:latin typeface="Montserrat" panose="00000500000000000000" pitchFamily="2" charset="0"/>
              </a:rPr>
              <a:t>B</a:t>
            </a:r>
            <a:r>
              <a:rPr dirty="0">
                <a:latin typeface="Montserrat" panose="00000500000000000000" pitchFamily="2" charset="0"/>
              </a:rPr>
              <a:t>acterial </a:t>
            </a:r>
            <a:r>
              <a:rPr lang="en-US" dirty="0">
                <a:latin typeface="Montserrat" panose="00000500000000000000" pitchFamily="2" charset="0"/>
              </a:rPr>
              <a:t>P</a:t>
            </a:r>
            <a:r>
              <a:rPr dirty="0">
                <a:latin typeface="Montserrat" panose="00000500000000000000" pitchFamily="2" charset="0"/>
              </a:rPr>
              <a:t>neumonia</a:t>
            </a:r>
          </a:p>
        </p:txBody>
      </p:sp>
      <p:sp>
        <p:nvSpPr>
          <p:cNvPr id="137" name="Object 3"/>
          <p:cNvSpPr/>
          <p:nvPr/>
        </p:nvSpPr>
        <p:spPr>
          <a:xfrm>
            <a:off x="476130" y="1571231"/>
            <a:ext cx="11236692" cy="4428020"/>
          </a:xfrm>
          <a:prstGeom prst="rect">
            <a:avLst/>
          </a:prstGeom>
          <a:solidFill>
            <a:srgbClr val="000000">
              <a:alpha val="0"/>
            </a:srgbClr>
          </a:solidFill>
          <a:ln w="12700">
            <a:miter lim="400000"/>
          </a:ln>
        </p:spPr>
        <p:txBody>
          <a:bodyPr lIns="45719" rIns="45719"/>
          <a:lstStyle/>
          <a:p>
            <a:endParaRPr>
              <a:latin typeface="Montserrat" panose="00000500000000000000" pitchFamily="2" charset="0"/>
            </a:endParaRPr>
          </a:p>
        </p:txBody>
      </p:sp>
      <p:pic>
        <p:nvPicPr>
          <p:cNvPr id="138" name="Object 4" descr="Object 4"/>
          <p:cNvPicPr>
            <a:picLocks noChangeAspect="1"/>
          </p:cNvPicPr>
          <p:nvPr/>
        </p:nvPicPr>
        <p:blipFill>
          <a:blip r:embed="rId3"/>
          <a:stretch>
            <a:fillRect/>
          </a:stretch>
        </p:blipFill>
        <p:spPr>
          <a:xfrm>
            <a:off x="285679" y="1380779"/>
            <a:ext cx="11617595" cy="4808923"/>
          </a:xfrm>
          <a:prstGeom prst="rect">
            <a:avLst/>
          </a:prstGeom>
          <a:ln w="12700">
            <a:miter lim="400000"/>
          </a:ln>
        </p:spPr>
      </p:pic>
      <p:pic>
        <p:nvPicPr>
          <p:cNvPr id="139" name="Object 5" descr="Object 5"/>
          <p:cNvPicPr>
            <a:picLocks noChangeAspect="1"/>
          </p:cNvPicPr>
          <p:nvPr/>
        </p:nvPicPr>
        <p:blipFill>
          <a:blip r:embed="rId4"/>
          <a:stretch>
            <a:fillRect/>
          </a:stretch>
        </p:blipFill>
        <p:spPr>
          <a:xfrm>
            <a:off x="11170032" y="6531303"/>
            <a:ext cx="876082" cy="173833"/>
          </a:xfrm>
          <a:prstGeom prst="rect">
            <a:avLst/>
          </a:prstGeom>
          <a:ln w="12700">
            <a:miter lim="400000"/>
          </a:ln>
        </p:spPr>
      </p:pic>
      <p:sp>
        <p:nvSpPr>
          <p:cNvPr id="140" name="Object 6"/>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Object 1"/>
          <p:cNvSpPr txBox="1"/>
          <p:nvPr/>
        </p:nvSpPr>
        <p:spPr>
          <a:xfrm>
            <a:off x="257111" y="2551659"/>
            <a:ext cx="11674731"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4. Data Processing</a:t>
            </a:r>
          </a:p>
        </p:txBody>
      </p:sp>
      <p:sp>
        <p:nvSpPr>
          <p:cNvPr id="143" name="Object 2"/>
          <p:cNvSpPr txBox="1"/>
          <p:nvPr/>
        </p:nvSpPr>
        <p:spPr>
          <a:xfrm>
            <a:off x="257111" y="2877451"/>
            <a:ext cx="11674731" cy="1513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lang="en-US" dirty="0">
                <a:latin typeface="Montserrat" panose="00000500000000000000" pitchFamily="2" charset="0"/>
              </a:rPr>
              <a:t>Extracting and Adjusting Images to Improve Accuracy</a:t>
            </a:r>
            <a:endParaRPr dirty="0">
              <a:latin typeface="Montserrat" panose="00000500000000000000" pitchFamily="2" charset="0"/>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Object 1" descr="Object 1"/>
          <p:cNvPicPr>
            <a:picLocks noChangeAspect="1"/>
          </p:cNvPicPr>
          <p:nvPr/>
        </p:nvPicPr>
        <p:blipFill>
          <a:blip r:embed="rId2"/>
          <a:stretch>
            <a:fillRect/>
          </a:stretch>
        </p:blipFill>
        <p:spPr>
          <a:xfrm>
            <a:off x="0" y="0"/>
            <a:ext cx="12188953" cy="76182"/>
          </a:xfrm>
          <a:prstGeom prst="rect">
            <a:avLst/>
          </a:prstGeom>
          <a:ln w="12700">
            <a:miter lim="400000"/>
          </a:ln>
        </p:spPr>
      </p:pic>
      <p:sp>
        <p:nvSpPr>
          <p:cNvPr id="146"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Data </a:t>
            </a:r>
            <a:r>
              <a:rPr lang="en-US" dirty="0">
                <a:latin typeface="Montserrat" panose="00000500000000000000" pitchFamily="2" charset="0"/>
              </a:rPr>
              <a:t>C</a:t>
            </a:r>
            <a:r>
              <a:rPr dirty="0">
                <a:latin typeface="Montserrat" panose="00000500000000000000" pitchFamily="2" charset="0"/>
              </a:rPr>
              <a:t>leaning</a:t>
            </a:r>
          </a:p>
        </p:txBody>
      </p:sp>
      <p:sp>
        <p:nvSpPr>
          <p:cNvPr id="147" name="Object 3"/>
          <p:cNvSpPr/>
          <p:nvPr/>
        </p:nvSpPr>
        <p:spPr>
          <a:xfrm>
            <a:off x="987971"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48" name="Object 4"/>
          <p:cNvSpPr/>
          <p:nvPr/>
        </p:nvSpPr>
        <p:spPr>
          <a:xfrm>
            <a:off x="987971"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49" name="Object 5" descr="Object 5"/>
          <p:cNvPicPr>
            <a:picLocks noChangeAspect="1"/>
          </p:cNvPicPr>
          <p:nvPr/>
        </p:nvPicPr>
        <p:blipFill>
          <a:blip r:embed="rId3"/>
          <a:stretch>
            <a:fillRect/>
          </a:stretch>
        </p:blipFill>
        <p:spPr>
          <a:xfrm>
            <a:off x="1342279" y="3019711"/>
            <a:ext cx="704675" cy="704675"/>
          </a:xfrm>
          <a:prstGeom prst="rect">
            <a:avLst/>
          </a:prstGeom>
          <a:ln w="12700">
            <a:miter lim="400000"/>
          </a:ln>
        </p:spPr>
      </p:pic>
      <p:sp>
        <p:nvSpPr>
          <p:cNvPr id="150" name="Object 6"/>
          <p:cNvSpPr txBox="1"/>
          <p:nvPr/>
        </p:nvSpPr>
        <p:spPr>
          <a:xfrm>
            <a:off x="460895" y="4180296"/>
            <a:ext cx="2482547"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Remove Duplicates</a:t>
            </a:r>
          </a:p>
        </p:txBody>
      </p:sp>
      <p:sp>
        <p:nvSpPr>
          <p:cNvPr id="151" name="Object 7"/>
          <p:cNvSpPr/>
          <p:nvPr/>
        </p:nvSpPr>
        <p:spPr>
          <a:xfrm>
            <a:off x="3916176"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52" name="Object 8"/>
          <p:cNvSpPr/>
          <p:nvPr/>
        </p:nvSpPr>
        <p:spPr>
          <a:xfrm>
            <a:off x="3916176"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53" name="Object 9" descr="Object 9"/>
          <p:cNvPicPr>
            <a:picLocks noChangeAspect="1"/>
          </p:cNvPicPr>
          <p:nvPr/>
        </p:nvPicPr>
        <p:blipFill>
          <a:blip r:embed="rId4"/>
          <a:stretch>
            <a:fillRect/>
          </a:stretch>
        </p:blipFill>
        <p:spPr>
          <a:xfrm>
            <a:off x="4337432" y="3061549"/>
            <a:ext cx="590403" cy="618971"/>
          </a:xfrm>
          <a:prstGeom prst="rect">
            <a:avLst/>
          </a:prstGeom>
          <a:ln w="12700">
            <a:miter lim="400000"/>
          </a:ln>
        </p:spPr>
      </p:pic>
      <p:sp>
        <p:nvSpPr>
          <p:cNvPr id="154" name="Object 10"/>
          <p:cNvSpPr txBox="1"/>
          <p:nvPr/>
        </p:nvSpPr>
        <p:spPr>
          <a:xfrm>
            <a:off x="3509560" y="4180296"/>
            <a:ext cx="2241625"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Check for corrupt images</a:t>
            </a:r>
          </a:p>
        </p:txBody>
      </p:sp>
      <p:sp>
        <p:nvSpPr>
          <p:cNvPr id="155" name="Object 11"/>
          <p:cNvSpPr/>
          <p:nvPr/>
        </p:nvSpPr>
        <p:spPr>
          <a:xfrm>
            <a:off x="6844382"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56" name="Object 12"/>
          <p:cNvSpPr/>
          <p:nvPr/>
        </p:nvSpPr>
        <p:spPr>
          <a:xfrm>
            <a:off x="6844382"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57" name="Object 13" descr="Object 13"/>
          <p:cNvPicPr>
            <a:picLocks noChangeAspect="1"/>
          </p:cNvPicPr>
          <p:nvPr/>
        </p:nvPicPr>
        <p:blipFill>
          <a:blip r:embed="rId5"/>
          <a:stretch>
            <a:fillRect/>
          </a:stretch>
        </p:blipFill>
        <p:spPr>
          <a:xfrm>
            <a:off x="7257270" y="3136883"/>
            <a:ext cx="609450" cy="457087"/>
          </a:xfrm>
          <a:prstGeom prst="rect">
            <a:avLst/>
          </a:prstGeom>
          <a:ln w="12700">
            <a:miter lim="400000"/>
          </a:ln>
        </p:spPr>
      </p:pic>
      <p:sp>
        <p:nvSpPr>
          <p:cNvPr id="158" name="Object 14"/>
          <p:cNvSpPr txBox="1"/>
          <p:nvPr/>
        </p:nvSpPr>
        <p:spPr>
          <a:xfrm>
            <a:off x="6427292" y="4180296"/>
            <a:ext cx="2262575"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Match formatting (size and color)</a:t>
            </a:r>
          </a:p>
        </p:txBody>
      </p:sp>
      <p:sp>
        <p:nvSpPr>
          <p:cNvPr id="159" name="Object 15"/>
          <p:cNvSpPr/>
          <p:nvPr/>
        </p:nvSpPr>
        <p:spPr>
          <a:xfrm>
            <a:off x="9772587" y="2657049"/>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60" name="Object 16"/>
          <p:cNvSpPr/>
          <p:nvPr/>
        </p:nvSpPr>
        <p:spPr>
          <a:xfrm>
            <a:off x="9772587" y="2657049"/>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161" name="Object 17" descr="Object 17"/>
          <p:cNvPicPr>
            <a:picLocks noChangeAspect="1"/>
          </p:cNvPicPr>
          <p:nvPr/>
        </p:nvPicPr>
        <p:blipFill>
          <a:blip r:embed="rId6"/>
          <a:stretch>
            <a:fillRect/>
          </a:stretch>
        </p:blipFill>
        <p:spPr>
          <a:xfrm>
            <a:off x="10202219" y="3103407"/>
            <a:ext cx="571358" cy="533268"/>
          </a:xfrm>
          <a:prstGeom prst="rect">
            <a:avLst/>
          </a:prstGeom>
          <a:ln w="12700">
            <a:miter lim="400000"/>
          </a:ln>
        </p:spPr>
      </p:pic>
      <p:sp>
        <p:nvSpPr>
          <p:cNvPr id="162" name="Object 18"/>
          <p:cNvSpPr txBox="1"/>
          <p:nvPr/>
        </p:nvSpPr>
        <p:spPr>
          <a:xfrm>
            <a:off x="9371209" y="4180296"/>
            <a:ext cx="2231151"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Augment images</a:t>
            </a:r>
          </a:p>
        </p:txBody>
      </p:sp>
      <p:pic>
        <p:nvPicPr>
          <p:cNvPr id="163" name="Object 19" descr="Object 19"/>
          <p:cNvPicPr>
            <a:picLocks noChangeAspect="1"/>
          </p:cNvPicPr>
          <p:nvPr/>
        </p:nvPicPr>
        <p:blipFill>
          <a:blip r:embed="rId7"/>
          <a:stretch>
            <a:fillRect/>
          </a:stretch>
        </p:blipFill>
        <p:spPr>
          <a:xfrm>
            <a:off x="11170032" y="6531303"/>
            <a:ext cx="876082" cy="173833"/>
          </a:xfrm>
          <a:prstGeom prst="rect">
            <a:avLst/>
          </a:prstGeom>
          <a:ln w="12700">
            <a:miter lim="400000"/>
          </a:ln>
        </p:spPr>
      </p:pic>
      <p:sp>
        <p:nvSpPr>
          <p:cNvPr id="164" name="Object 20"/>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Object 1"/>
          <p:cNvSpPr/>
          <p:nvPr/>
        </p:nvSpPr>
        <p:spPr>
          <a:xfrm>
            <a:off x="-1" y="-1"/>
            <a:ext cx="12188954" cy="6856288"/>
          </a:xfrm>
          <a:prstGeom prst="rect">
            <a:avLst/>
          </a:prstGeom>
          <a:solidFill>
            <a:srgbClr val="FEFEFE"/>
          </a:solidFill>
          <a:ln w="12700">
            <a:miter lim="400000"/>
          </a:ln>
        </p:spPr>
        <p:txBody>
          <a:bodyPr lIns="45719" rIns="45719"/>
          <a:lstStyle/>
          <a:p>
            <a:endParaRPr/>
          </a:p>
        </p:txBody>
      </p:sp>
      <p:pic>
        <p:nvPicPr>
          <p:cNvPr id="167" name="Object 2" descr="Object 2"/>
          <p:cNvPicPr>
            <a:picLocks noChangeAspect="1"/>
          </p:cNvPicPr>
          <p:nvPr/>
        </p:nvPicPr>
        <p:blipFill>
          <a:blip r:embed="rId2"/>
          <a:stretch>
            <a:fillRect/>
          </a:stretch>
        </p:blipFill>
        <p:spPr>
          <a:xfrm>
            <a:off x="2806314" y="140008"/>
            <a:ext cx="6576324" cy="6576270"/>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p:cNvGrpSpPr/>
        <p:nvPr/>
      </p:nvGrpSpPr>
      <p:grpSpPr>
        <a:xfrm>
          <a:off x="0" y="0"/>
          <a:ext cx="0" cy="0"/>
          <a:chOff x="0" y="0"/>
          <a:chExt cx="0" cy="0"/>
        </a:xfrm>
      </p:grpSpPr>
      <p:sp>
        <p:nvSpPr>
          <p:cNvPr id="169" name="Object 1"/>
          <p:cNvSpPr txBox="1"/>
          <p:nvPr/>
        </p:nvSpPr>
        <p:spPr>
          <a:xfrm>
            <a:off x="823706" y="2133577"/>
            <a:ext cx="10541541"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5. Modeling</a:t>
            </a:r>
          </a:p>
        </p:txBody>
      </p:sp>
      <p:sp>
        <p:nvSpPr>
          <p:cNvPr id="170" name="Object 2"/>
          <p:cNvSpPr txBox="1"/>
          <p:nvPr/>
        </p:nvSpPr>
        <p:spPr>
          <a:xfrm>
            <a:off x="823706" y="2273828"/>
            <a:ext cx="10541541" cy="30264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Build</a:t>
            </a:r>
            <a:r>
              <a:rPr lang="en-US" dirty="0">
                <a:latin typeface="Montserrat" panose="00000500000000000000" pitchFamily="2" charset="0"/>
              </a:rPr>
              <a:t>ing</a:t>
            </a:r>
            <a:r>
              <a:rPr dirty="0">
                <a:latin typeface="Montserrat" panose="00000500000000000000" pitchFamily="2" charset="0"/>
              </a:rPr>
              <a:t> and </a:t>
            </a:r>
            <a:r>
              <a:rPr lang="en-US" dirty="0">
                <a:latin typeface="Montserrat" panose="00000500000000000000" pitchFamily="2" charset="0"/>
              </a:rPr>
              <a:t>T</a:t>
            </a:r>
            <a:r>
              <a:rPr dirty="0">
                <a:latin typeface="Montserrat" panose="00000500000000000000" pitchFamily="2" charset="0"/>
              </a:rPr>
              <a:t>est</a:t>
            </a:r>
            <a:r>
              <a:rPr lang="en-US" dirty="0">
                <a:latin typeface="Montserrat" panose="00000500000000000000" pitchFamily="2" charset="0"/>
              </a:rPr>
              <a:t>ing</a:t>
            </a:r>
            <a:r>
              <a:rPr dirty="0">
                <a:latin typeface="Montserrat" panose="00000500000000000000" pitchFamily="2" charset="0"/>
              </a:rPr>
              <a:t> </a:t>
            </a:r>
            <a:r>
              <a:rPr lang="en-US" dirty="0">
                <a:latin typeface="Montserrat" panose="00000500000000000000" pitchFamily="2" charset="0"/>
              </a:rPr>
              <a:t>T</a:t>
            </a:r>
            <a:r>
              <a:rPr dirty="0">
                <a:latin typeface="Montserrat" panose="00000500000000000000" pitchFamily="2" charset="0"/>
              </a:rPr>
              <a:t>raditional </a:t>
            </a:r>
            <a:r>
              <a:rPr lang="en-US" dirty="0">
                <a:latin typeface="Montserrat" panose="00000500000000000000" pitchFamily="2" charset="0"/>
              </a:rPr>
              <a:t>M</a:t>
            </a:r>
            <a:r>
              <a:rPr dirty="0">
                <a:latin typeface="Montserrat" panose="00000500000000000000" pitchFamily="2" charset="0"/>
              </a:rPr>
              <a:t>achine </a:t>
            </a:r>
            <a:r>
              <a:rPr lang="en-US" dirty="0">
                <a:latin typeface="Montserrat" panose="00000500000000000000" pitchFamily="2" charset="0"/>
              </a:rPr>
              <a:t>L</a:t>
            </a:r>
            <a:r>
              <a:rPr dirty="0">
                <a:latin typeface="Montserrat" panose="00000500000000000000" pitchFamily="2" charset="0"/>
              </a:rPr>
              <a:t>earning and </a:t>
            </a:r>
            <a:r>
              <a:rPr lang="en-US" dirty="0">
                <a:latin typeface="Montserrat" panose="00000500000000000000" pitchFamily="2" charset="0"/>
              </a:rPr>
              <a:t>D</a:t>
            </a:r>
            <a:r>
              <a:rPr dirty="0">
                <a:latin typeface="Montserrat" panose="00000500000000000000" pitchFamily="2" charset="0"/>
              </a:rPr>
              <a:t>eep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73" name="Object 2"/>
          <p:cNvSpPr txBox="1"/>
          <p:nvPr/>
        </p:nvSpPr>
        <p:spPr>
          <a:xfrm>
            <a:off x="476130" y="376143"/>
            <a:ext cx="7121939"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Traditional </a:t>
            </a:r>
            <a:r>
              <a:rPr lang="en-US" dirty="0">
                <a:latin typeface="Montserrat" panose="00000500000000000000" pitchFamily="2" charset="0"/>
              </a:rPr>
              <a:t>M</a:t>
            </a:r>
            <a:r>
              <a:rPr dirty="0">
                <a:latin typeface="Montserrat" panose="00000500000000000000" pitchFamily="2" charset="0"/>
              </a:rPr>
              <a:t>achine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 </a:t>
            </a:r>
            <a:r>
              <a:rPr lang="en-US" dirty="0">
                <a:latin typeface="Montserrat" panose="00000500000000000000" pitchFamily="2" charset="0"/>
              </a:rPr>
              <a:t>U</a:t>
            </a:r>
            <a:r>
              <a:rPr dirty="0">
                <a:latin typeface="Montserrat" panose="00000500000000000000" pitchFamily="2" charset="0"/>
              </a:rPr>
              <a:t>sed</a:t>
            </a:r>
          </a:p>
        </p:txBody>
      </p:sp>
      <p:sp>
        <p:nvSpPr>
          <p:cNvPr id="174" name="Object 3"/>
          <p:cNvSpPr/>
          <p:nvPr/>
        </p:nvSpPr>
        <p:spPr>
          <a:xfrm>
            <a:off x="999875" y="324935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75" name="Object 4"/>
          <p:cNvSpPr txBox="1"/>
          <p:nvPr/>
        </p:nvSpPr>
        <p:spPr>
          <a:xfrm>
            <a:off x="923693" y="3335248"/>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1</a:t>
            </a:r>
          </a:p>
        </p:txBody>
      </p:sp>
      <p:sp>
        <p:nvSpPr>
          <p:cNvPr id="176" name="Object 5"/>
          <p:cNvSpPr/>
          <p:nvPr/>
        </p:nvSpPr>
        <p:spPr>
          <a:xfrm>
            <a:off x="999875" y="324935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77" name="Object 6"/>
          <p:cNvSpPr txBox="1"/>
          <p:nvPr/>
        </p:nvSpPr>
        <p:spPr>
          <a:xfrm>
            <a:off x="1809298" y="3391822"/>
            <a:ext cx="4085204" cy="493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Random Forest Models</a:t>
            </a:r>
            <a:endParaRPr lang="en-US" dirty="0">
              <a:latin typeface="Montserrat" panose="00000500000000000000" pitchFamily="2" charset="0"/>
            </a:endParaRPr>
          </a:p>
          <a:p>
            <a:r>
              <a:rPr lang="en-US" sz="1100" dirty="0">
                <a:latin typeface="Montserrat" panose="00000500000000000000" pitchFamily="2" charset="0"/>
              </a:rPr>
              <a:t>(lots of decision trees!)</a:t>
            </a:r>
            <a:endParaRPr sz="1100" dirty="0">
              <a:latin typeface="Montserrat" panose="00000500000000000000" pitchFamily="2" charset="0"/>
            </a:endParaRPr>
          </a:p>
        </p:txBody>
      </p:sp>
      <p:sp>
        <p:nvSpPr>
          <p:cNvPr id="178" name="Object 7"/>
          <p:cNvSpPr/>
          <p:nvPr/>
        </p:nvSpPr>
        <p:spPr>
          <a:xfrm>
            <a:off x="6522994" y="324935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79" name="Object 8"/>
          <p:cNvSpPr txBox="1"/>
          <p:nvPr/>
        </p:nvSpPr>
        <p:spPr>
          <a:xfrm>
            <a:off x="6446813" y="3335248"/>
            <a:ext cx="628494"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a:t>
            </a:r>
          </a:p>
        </p:txBody>
      </p:sp>
      <p:sp>
        <p:nvSpPr>
          <p:cNvPr id="180" name="Object 9"/>
          <p:cNvSpPr/>
          <p:nvPr/>
        </p:nvSpPr>
        <p:spPr>
          <a:xfrm>
            <a:off x="6522994" y="324935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81" name="Object 10"/>
          <p:cNvSpPr txBox="1"/>
          <p:nvPr/>
        </p:nvSpPr>
        <p:spPr>
          <a:xfrm>
            <a:off x="7332416" y="3391822"/>
            <a:ext cx="4085203" cy="7401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Support Vector Machines</a:t>
            </a:r>
            <a:endParaRPr lang="en-US" dirty="0">
              <a:latin typeface="Montserrat" panose="00000500000000000000" pitchFamily="2" charset="0"/>
            </a:endParaRPr>
          </a:p>
          <a:p>
            <a:r>
              <a:rPr lang="en-US" sz="1100" dirty="0">
                <a:latin typeface="Montserrat" panose="00000500000000000000" pitchFamily="2" charset="0"/>
              </a:rPr>
              <a:t>(what if we examined only the most important data points?)</a:t>
            </a:r>
            <a:endParaRPr sz="1100" dirty="0">
              <a:latin typeface="Montserrat" panose="00000500000000000000" pitchFamily="2" charset="0"/>
            </a:endParaRPr>
          </a:p>
        </p:txBody>
      </p:sp>
      <p:sp>
        <p:nvSpPr>
          <p:cNvPr id="182" name="Object 11"/>
          <p:cNvSpPr/>
          <p:nvPr/>
        </p:nvSpPr>
        <p:spPr>
          <a:xfrm>
            <a:off x="999875" y="3982596"/>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83" name="Object 12"/>
          <p:cNvSpPr txBox="1"/>
          <p:nvPr/>
        </p:nvSpPr>
        <p:spPr>
          <a:xfrm>
            <a:off x="923693" y="4068490"/>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3</a:t>
            </a:r>
          </a:p>
        </p:txBody>
      </p:sp>
      <p:sp>
        <p:nvSpPr>
          <p:cNvPr id="184" name="Object 13"/>
          <p:cNvSpPr/>
          <p:nvPr/>
        </p:nvSpPr>
        <p:spPr>
          <a:xfrm>
            <a:off x="999875" y="3982596"/>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85" name="Object 14"/>
          <p:cNvSpPr txBox="1"/>
          <p:nvPr/>
        </p:nvSpPr>
        <p:spPr>
          <a:xfrm>
            <a:off x="1809298" y="4125064"/>
            <a:ext cx="4085204" cy="48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Hyperparameter tuning </a:t>
            </a:r>
          </a:p>
          <a:p>
            <a:r>
              <a:rPr lang="en-US" sz="1100" dirty="0">
                <a:latin typeface="Montserrat" panose="00000500000000000000" pitchFamily="2" charset="0"/>
              </a:rPr>
              <a:t>(adjusting AI model settings for better performance)</a:t>
            </a:r>
            <a:endParaRPr sz="1100" dirty="0">
              <a:latin typeface="Montserrat" panose="00000500000000000000" pitchFamily="2" charset="0"/>
            </a:endParaRPr>
          </a:p>
        </p:txBody>
      </p:sp>
      <p:pic>
        <p:nvPicPr>
          <p:cNvPr id="186" name="Object 15" descr="Object 15"/>
          <p:cNvPicPr>
            <a:picLocks noChangeAspect="1"/>
          </p:cNvPicPr>
          <p:nvPr/>
        </p:nvPicPr>
        <p:blipFill>
          <a:blip r:embed="rId3"/>
          <a:stretch>
            <a:fillRect/>
          </a:stretch>
        </p:blipFill>
        <p:spPr>
          <a:xfrm>
            <a:off x="11170032" y="6531303"/>
            <a:ext cx="876082" cy="173833"/>
          </a:xfrm>
          <a:prstGeom prst="rect">
            <a:avLst/>
          </a:prstGeom>
          <a:ln w="12700">
            <a:miter lim="400000"/>
          </a:ln>
        </p:spPr>
      </p:pic>
      <p:sp>
        <p:nvSpPr>
          <p:cNvPr id="187" name="Object 16"/>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190"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Deep </a:t>
            </a:r>
            <a:r>
              <a:rPr lang="en-US" dirty="0">
                <a:latin typeface="Montserrat" panose="00000500000000000000" pitchFamily="2" charset="0"/>
              </a:rPr>
              <a:t>L</a:t>
            </a:r>
            <a:r>
              <a:rPr dirty="0">
                <a:latin typeface="Montserrat" panose="00000500000000000000" pitchFamily="2" charset="0"/>
              </a:rPr>
              <a:t>earning </a:t>
            </a:r>
            <a:r>
              <a:rPr lang="en-US" dirty="0">
                <a:latin typeface="Montserrat" panose="00000500000000000000" pitchFamily="2" charset="0"/>
              </a:rPr>
              <a:t>T</a:t>
            </a:r>
            <a:r>
              <a:rPr dirty="0">
                <a:latin typeface="Montserrat" panose="00000500000000000000" pitchFamily="2" charset="0"/>
              </a:rPr>
              <a:t>echniques </a:t>
            </a:r>
            <a:r>
              <a:rPr lang="en-US" dirty="0">
                <a:latin typeface="Montserrat" panose="00000500000000000000" pitchFamily="2" charset="0"/>
              </a:rPr>
              <a:t>U</a:t>
            </a:r>
            <a:r>
              <a:rPr dirty="0">
                <a:latin typeface="Montserrat" panose="00000500000000000000" pitchFamily="2" charset="0"/>
              </a:rPr>
              <a:t>sed</a:t>
            </a:r>
          </a:p>
        </p:txBody>
      </p:sp>
      <p:sp>
        <p:nvSpPr>
          <p:cNvPr id="191" name="Object 3"/>
          <p:cNvSpPr/>
          <p:nvPr/>
        </p:nvSpPr>
        <p:spPr>
          <a:xfrm>
            <a:off x="1047488" y="152160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92" name="Object 4"/>
          <p:cNvSpPr txBox="1"/>
          <p:nvPr/>
        </p:nvSpPr>
        <p:spPr>
          <a:xfrm>
            <a:off x="971306" y="1607498"/>
            <a:ext cx="628495"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1</a:t>
            </a:r>
          </a:p>
        </p:txBody>
      </p:sp>
      <p:sp>
        <p:nvSpPr>
          <p:cNvPr id="193" name="Object 5"/>
          <p:cNvSpPr/>
          <p:nvPr/>
        </p:nvSpPr>
        <p:spPr>
          <a:xfrm>
            <a:off x="1047488" y="152160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94" name="Object 6"/>
          <p:cNvSpPr txBox="1"/>
          <p:nvPr/>
        </p:nvSpPr>
        <p:spPr>
          <a:xfrm>
            <a:off x="1856910" y="1573992"/>
            <a:ext cx="4085204" cy="48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Convolutional Neural Network</a:t>
            </a:r>
            <a:endParaRPr lang="en-US" dirty="0">
              <a:latin typeface="Montserrat" panose="00000500000000000000" pitchFamily="2" charset="0"/>
            </a:endParaRPr>
          </a:p>
          <a:p>
            <a:r>
              <a:rPr lang="en-US" sz="1100" dirty="0">
                <a:latin typeface="Montserrat" panose="00000500000000000000" pitchFamily="2" charset="0"/>
              </a:rPr>
              <a:t>(an advanced neural network built for image data)</a:t>
            </a:r>
            <a:endParaRPr sz="1100" dirty="0">
              <a:latin typeface="Montserrat" panose="00000500000000000000" pitchFamily="2" charset="0"/>
            </a:endParaRPr>
          </a:p>
        </p:txBody>
      </p:sp>
      <p:sp>
        <p:nvSpPr>
          <p:cNvPr id="195" name="Object 7"/>
          <p:cNvSpPr/>
          <p:nvPr/>
        </p:nvSpPr>
        <p:spPr>
          <a:xfrm>
            <a:off x="6570607" y="1521605"/>
            <a:ext cx="476133" cy="476133"/>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196" name="Object 8"/>
          <p:cNvSpPr txBox="1"/>
          <p:nvPr/>
        </p:nvSpPr>
        <p:spPr>
          <a:xfrm>
            <a:off x="6494426" y="1607498"/>
            <a:ext cx="628494" cy="3006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300"/>
              </a:lnSpc>
              <a:defRPr sz="21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a:t>
            </a:r>
          </a:p>
        </p:txBody>
      </p:sp>
      <p:sp>
        <p:nvSpPr>
          <p:cNvPr id="197" name="Object 9"/>
          <p:cNvSpPr/>
          <p:nvPr/>
        </p:nvSpPr>
        <p:spPr>
          <a:xfrm>
            <a:off x="6570607" y="1521605"/>
            <a:ext cx="476133" cy="476133"/>
          </a:xfrm>
          <a:prstGeom prst="ellipse">
            <a:avLst/>
          </a:prstGeom>
          <a:ln w="25400">
            <a:solidFill>
              <a:srgbClr val="DC582A"/>
            </a:solidFill>
            <a:miter/>
          </a:ln>
        </p:spPr>
        <p:txBody>
          <a:bodyPr lIns="45719" rIns="45719"/>
          <a:lstStyle/>
          <a:p>
            <a:endParaRPr>
              <a:latin typeface="Montserrat" panose="00000500000000000000" pitchFamily="2" charset="0"/>
            </a:endParaRPr>
          </a:p>
        </p:txBody>
      </p:sp>
      <p:sp>
        <p:nvSpPr>
          <p:cNvPr id="198" name="Object 10"/>
          <p:cNvSpPr txBox="1"/>
          <p:nvPr/>
        </p:nvSpPr>
        <p:spPr>
          <a:xfrm>
            <a:off x="7380029" y="1523699"/>
            <a:ext cx="4085203" cy="1012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000"/>
              </a:lnSpc>
              <a:defRPr>
                <a:solidFill>
                  <a:srgbClr val="FFFFFF"/>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Transfer Learning: VGG16 and DenseNet121</a:t>
            </a:r>
            <a:endParaRPr lang="en-US" dirty="0">
              <a:latin typeface="Montserrat" panose="00000500000000000000" pitchFamily="2" charset="0"/>
            </a:endParaRPr>
          </a:p>
          <a:p>
            <a:r>
              <a:rPr lang="en-US" sz="1100" dirty="0">
                <a:latin typeface="Montserrat" panose="00000500000000000000" pitchFamily="2" charset="0"/>
              </a:rPr>
              <a:t>(pretrained AI models designed to recognize patterns in 1000 image categories)</a:t>
            </a:r>
            <a:endParaRPr sz="1100" dirty="0">
              <a:latin typeface="Montserrat" panose="00000500000000000000" pitchFamily="2" charset="0"/>
            </a:endParaRPr>
          </a:p>
        </p:txBody>
      </p:sp>
      <p:pic>
        <p:nvPicPr>
          <p:cNvPr id="199" name="Object 11" descr="Object 11"/>
          <p:cNvPicPr>
            <a:picLocks noChangeAspect="1"/>
          </p:cNvPicPr>
          <p:nvPr/>
        </p:nvPicPr>
        <p:blipFill>
          <a:blip r:embed="rId3"/>
          <a:stretch>
            <a:fillRect/>
          </a:stretch>
        </p:blipFill>
        <p:spPr>
          <a:xfrm>
            <a:off x="11170032" y="6531303"/>
            <a:ext cx="876082" cy="173833"/>
          </a:xfrm>
          <a:prstGeom prst="rect">
            <a:avLst/>
          </a:prstGeom>
          <a:ln w="12700">
            <a:miter lim="400000"/>
          </a:ln>
        </p:spPr>
      </p:pic>
      <p:sp>
        <p:nvSpPr>
          <p:cNvPr id="200" name="Object 12"/>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pic>
        <p:nvPicPr>
          <p:cNvPr id="3" name="Picture 2" descr="A silver van parked on the side of the road&#10;&#10;AI-generated content may be incorrect.">
            <a:extLst>
              <a:ext uri="{FF2B5EF4-FFF2-40B4-BE49-F238E27FC236}">
                <a16:creationId xmlns:a16="http://schemas.microsoft.com/office/drawing/2014/main" id="{2AFF9CE9-43D2-DDAC-6063-E0A6E8A9F1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79281" y="3504587"/>
            <a:ext cx="1349943" cy="1012457"/>
          </a:xfrm>
          <a:prstGeom prst="rect">
            <a:avLst/>
          </a:prstGeom>
        </p:spPr>
      </p:pic>
      <p:pic>
        <p:nvPicPr>
          <p:cNvPr id="5" name="Picture 4" descr="A koala sleeping on a tree branch&#10;&#10;AI-generated content may be incorrect.">
            <a:extLst>
              <a:ext uri="{FF2B5EF4-FFF2-40B4-BE49-F238E27FC236}">
                <a16:creationId xmlns:a16="http://schemas.microsoft.com/office/drawing/2014/main" id="{FDB59135-304F-E1BB-70DD-32E86D4553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6263" y="3501146"/>
            <a:ext cx="2395984" cy="1015898"/>
          </a:xfrm>
          <a:prstGeom prst="rect">
            <a:avLst/>
          </a:prstGeom>
        </p:spPr>
      </p:pic>
      <p:pic>
        <p:nvPicPr>
          <p:cNvPr id="7" name="Picture 6" descr="A violin on a table with a bow&#10;&#10;AI-generated content may be incorrect.">
            <a:extLst>
              <a:ext uri="{FF2B5EF4-FFF2-40B4-BE49-F238E27FC236}">
                <a16:creationId xmlns:a16="http://schemas.microsoft.com/office/drawing/2014/main" id="{532C32ED-DD77-96E2-ECFF-F38E8EF021D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89482" y="3501146"/>
            <a:ext cx="1529968" cy="1015898"/>
          </a:xfrm>
          <a:prstGeom prst="rect">
            <a:avLst/>
          </a:prstGeom>
        </p:spPr>
      </p:pic>
      <p:sp>
        <p:nvSpPr>
          <p:cNvPr id="8" name="TextBox 7">
            <a:extLst>
              <a:ext uri="{FF2B5EF4-FFF2-40B4-BE49-F238E27FC236}">
                <a16:creationId xmlns:a16="http://schemas.microsoft.com/office/drawing/2014/main" id="{7919CA87-BB0D-E1E6-6091-452DF9AEC594}"/>
              </a:ext>
            </a:extLst>
          </p:cNvPr>
          <p:cNvSpPr txBox="1">
            <a:spLocks/>
          </p:cNvSpPr>
          <p:nvPr/>
        </p:nvSpPr>
        <p:spPr>
          <a:xfrm>
            <a:off x="3520997" y="3289071"/>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koala</a:t>
            </a:r>
          </a:p>
        </p:txBody>
      </p:sp>
      <p:sp>
        <p:nvSpPr>
          <p:cNvPr id="9" name="TextBox 8">
            <a:extLst>
              <a:ext uri="{FF2B5EF4-FFF2-40B4-BE49-F238E27FC236}">
                <a16:creationId xmlns:a16="http://schemas.microsoft.com/office/drawing/2014/main" id="{3AF48E85-5543-1A97-A8E4-B7906CF71C69}"/>
              </a:ext>
            </a:extLst>
          </p:cNvPr>
          <p:cNvSpPr txBox="1">
            <a:spLocks/>
          </p:cNvSpPr>
          <p:nvPr/>
        </p:nvSpPr>
        <p:spPr>
          <a:xfrm>
            <a:off x="5811758" y="3289071"/>
            <a:ext cx="68498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minivan</a:t>
            </a:r>
          </a:p>
        </p:txBody>
      </p:sp>
      <p:sp>
        <p:nvSpPr>
          <p:cNvPr id="10" name="TextBox 9">
            <a:extLst>
              <a:ext uri="{FF2B5EF4-FFF2-40B4-BE49-F238E27FC236}">
                <a16:creationId xmlns:a16="http://schemas.microsoft.com/office/drawing/2014/main" id="{4D6798D0-9BC1-761C-8DB7-CBAE7962115F}"/>
              </a:ext>
            </a:extLst>
          </p:cNvPr>
          <p:cNvSpPr txBox="1">
            <a:spLocks/>
          </p:cNvSpPr>
          <p:nvPr/>
        </p:nvSpPr>
        <p:spPr>
          <a:xfrm>
            <a:off x="8118018" y="3289071"/>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violin</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ilver van parked on the side of the road&#10;&#10;AI-generated content may be incorrect.">
            <a:extLst>
              <a:ext uri="{FF2B5EF4-FFF2-40B4-BE49-F238E27FC236}">
                <a16:creationId xmlns:a16="http://schemas.microsoft.com/office/drawing/2014/main" id="{5AE5EAA3-5B93-DD27-A3F6-ABD5FF7954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77851" y="3134253"/>
            <a:ext cx="1349943" cy="1012457"/>
          </a:xfrm>
          <a:prstGeom prst="rect">
            <a:avLst/>
          </a:prstGeom>
        </p:spPr>
      </p:pic>
      <p:pic>
        <p:nvPicPr>
          <p:cNvPr id="3" name="Picture 2" descr="A koala sleeping on a tree branch&#10;&#10;AI-generated content may be incorrect.">
            <a:extLst>
              <a:ext uri="{FF2B5EF4-FFF2-40B4-BE49-F238E27FC236}">
                <a16:creationId xmlns:a16="http://schemas.microsoft.com/office/drawing/2014/main" id="{4FCB30B8-93CD-2403-CBB6-AB093B939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4833" y="3130812"/>
            <a:ext cx="2395984" cy="1015898"/>
          </a:xfrm>
          <a:prstGeom prst="rect">
            <a:avLst/>
          </a:prstGeom>
        </p:spPr>
      </p:pic>
      <p:pic>
        <p:nvPicPr>
          <p:cNvPr id="4" name="Picture 3" descr="A violin on a table with a bow&#10;&#10;AI-generated content may be incorrect.">
            <a:extLst>
              <a:ext uri="{FF2B5EF4-FFF2-40B4-BE49-F238E27FC236}">
                <a16:creationId xmlns:a16="http://schemas.microsoft.com/office/drawing/2014/main" id="{FE22BF50-E41B-5E68-63B9-FA0AE4A4F0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8052" y="3130812"/>
            <a:ext cx="1529968" cy="1015898"/>
          </a:xfrm>
          <a:prstGeom prst="rect">
            <a:avLst/>
          </a:prstGeom>
        </p:spPr>
      </p:pic>
      <p:sp>
        <p:nvSpPr>
          <p:cNvPr id="5" name="TextBox 4">
            <a:extLst>
              <a:ext uri="{FF2B5EF4-FFF2-40B4-BE49-F238E27FC236}">
                <a16:creationId xmlns:a16="http://schemas.microsoft.com/office/drawing/2014/main" id="{4542D144-99C7-6343-487C-48AA4CC4672B}"/>
              </a:ext>
            </a:extLst>
          </p:cNvPr>
          <p:cNvSpPr txBox="1">
            <a:spLocks/>
          </p:cNvSpPr>
          <p:nvPr/>
        </p:nvSpPr>
        <p:spPr>
          <a:xfrm>
            <a:off x="3719567" y="2918737"/>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koala</a:t>
            </a:r>
          </a:p>
        </p:txBody>
      </p:sp>
      <p:sp>
        <p:nvSpPr>
          <p:cNvPr id="6" name="TextBox 5">
            <a:extLst>
              <a:ext uri="{FF2B5EF4-FFF2-40B4-BE49-F238E27FC236}">
                <a16:creationId xmlns:a16="http://schemas.microsoft.com/office/drawing/2014/main" id="{41DC5006-8A85-8985-408D-77F9B621855E}"/>
              </a:ext>
            </a:extLst>
          </p:cNvPr>
          <p:cNvSpPr txBox="1">
            <a:spLocks/>
          </p:cNvSpPr>
          <p:nvPr/>
        </p:nvSpPr>
        <p:spPr>
          <a:xfrm>
            <a:off x="6010328" y="2918737"/>
            <a:ext cx="68498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minivan</a:t>
            </a:r>
          </a:p>
        </p:txBody>
      </p:sp>
      <p:sp>
        <p:nvSpPr>
          <p:cNvPr id="7" name="TextBox 6">
            <a:extLst>
              <a:ext uri="{FF2B5EF4-FFF2-40B4-BE49-F238E27FC236}">
                <a16:creationId xmlns:a16="http://schemas.microsoft.com/office/drawing/2014/main" id="{0B016229-3418-CC81-D982-E6DEA5A5A97B}"/>
              </a:ext>
            </a:extLst>
          </p:cNvPr>
          <p:cNvSpPr txBox="1">
            <a:spLocks/>
          </p:cNvSpPr>
          <p:nvPr/>
        </p:nvSpPr>
        <p:spPr>
          <a:xfrm>
            <a:off x="8316588" y="2918737"/>
            <a:ext cx="47132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dirty="0">
                <a:ln>
                  <a:noFill/>
                </a:ln>
                <a:solidFill>
                  <a:schemeClr val="bg1"/>
                </a:solidFill>
                <a:effectLst/>
                <a:uFillTx/>
                <a:latin typeface="Montserrat" panose="00000500000000000000" pitchFamily="2" charset="0"/>
                <a:sym typeface="Arial"/>
              </a:rPr>
              <a:t>violin</a:t>
            </a:r>
          </a:p>
        </p:txBody>
      </p:sp>
      <p:sp>
        <p:nvSpPr>
          <p:cNvPr id="8" name="Oval 7">
            <a:extLst>
              <a:ext uri="{FF2B5EF4-FFF2-40B4-BE49-F238E27FC236}">
                <a16:creationId xmlns:a16="http://schemas.microsoft.com/office/drawing/2014/main" id="{8F646342-D111-1663-7B8E-1AD5C61EEA22}"/>
              </a:ext>
            </a:extLst>
          </p:cNvPr>
          <p:cNvSpPr/>
          <p:nvPr/>
        </p:nvSpPr>
        <p:spPr>
          <a:xfrm>
            <a:off x="4569402" y="1887944"/>
            <a:ext cx="3410712" cy="47606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ontserrat" panose="00000500000000000000" pitchFamily="2" charset="0"/>
                <a:sym typeface="Arial"/>
              </a:rPr>
              <a:t>VGG16 or DenseNet121</a:t>
            </a:r>
          </a:p>
        </p:txBody>
      </p:sp>
      <p:cxnSp>
        <p:nvCxnSpPr>
          <p:cNvPr id="10" name="Straight Arrow Connector 9">
            <a:extLst>
              <a:ext uri="{FF2B5EF4-FFF2-40B4-BE49-F238E27FC236}">
                <a16:creationId xmlns:a16="http://schemas.microsoft.com/office/drawing/2014/main" id="{8971EC41-2566-8D40-7E76-F21C03F3D547}"/>
              </a:ext>
            </a:extLst>
          </p:cNvPr>
          <p:cNvCxnSpPr>
            <a:stCxn id="8" idx="4"/>
            <a:endCxn id="5" idx="0"/>
          </p:cNvCxnSpPr>
          <p:nvPr/>
        </p:nvCxnSpPr>
        <p:spPr>
          <a:xfrm flipH="1">
            <a:off x="3955229" y="2364013"/>
            <a:ext cx="2319529"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2" name="Straight Arrow Connector 11">
            <a:extLst>
              <a:ext uri="{FF2B5EF4-FFF2-40B4-BE49-F238E27FC236}">
                <a16:creationId xmlns:a16="http://schemas.microsoft.com/office/drawing/2014/main" id="{818FB84E-341B-D411-FE94-4ABAC2ACE118}"/>
              </a:ext>
            </a:extLst>
          </p:cNvPr>
          <p:cNvCxnSpPr>
            <a:stCxn id="8" idx="4"/>
            <a:endCxn id="6" idx="0"/>
          </p:cNvCxnSpPr>
          <p:nvPr/>
        </p:nvCxnSpPr>
        <p:spPr>
          <a:xfrm>
            <a:off x="6274758" y="2364013"/>
            <a:ext cx="78064"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405CC738-AEEF-1723-8881-45CF828754D1}"/>
              </a:ext>
            </a:extLst>
          </p:cNvPr>
          <p:cNvCxnSpPr>
            <a:stCxn id="8" idx="4"/>
            <a:endCxn id="7" idx="0"/>
          </p:cNvCxnSpPr>
          <p:nvPr/>
        </p:nvCxnSpPr>
        <p:spPr>
          <a:xfrm>
            <a:off x="6274758" y="2364013"/>
            <a:ext cx="2277492" cy="5547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3E5EA6E7-0C88-0BB3-F506-079C0CB7F871}"/>
              </a:ext>
            </a:extLst>
          </p:cNvPr>
          <p:cNvSpPr txBox="1"/>
          <p:nvPr/>
        </p:nvSpPr>
        <p:spPr>
          <a:xfrm>
            <a:off x="9437167" y="3867912"/>
            <a:ext cx="2166569"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bg1"/>
                </a:solidFill>
                <a:latin typeface="Montserrat" panose="00000500000000000000" pitchFamily="2" charset="0"/>
              </a:rPr>
              <a:t>… 997 other categories</a:t>
            </a:r>
            <a:endParaRPr kumimoji="0" lang="en-US" sz="1400" b="0" i="0" u="none" strike="noStrike" cap="none" spc="0" normalizeH="0" baseline="0" dirty="0">
              <a:ln>
                <a:noFill/>
              </a:ln>
              <a:solidFill>
                <a:schemeClr val="bg1"/>
              </a:solidFill>
              <a:effectLst/>
              <a:uFillTx/>
              <a:latin typeface="Montserrat" panose="00000500000000000000" pitchFamily="2" charset="0"/>
              <a:sym typeface="Arial"/>
            </a:endParaRPr>
          </a:p>
        </p:txBody>
      </p:sp>
      <p:sp>
        <p:nvSpPr>
          <p:cNvPr id="18" name="TextBox 17">
            <a:extLst>
              <a:ext uri="{FF2B5EF4-FFF2-40B4-BE49-F238E27FC236}">
                <a16:creationId xmlns:a16="http://schemas.microsoft.com/office/drawing/2014/main" id="{F23A86B7-DC6F-5903-11D9-2047FED0195C}"/>
              </a:ext>
            </a:extLst>
          </p:cNvPr>
          <p:cNvSpPr txBox="1"/>
          <p:nvPr/>
        </p:nvSpPr>
        <p:spPr>
          <a:xfrm>
            <a:off x="128502" y="259859"/>
            <a:ext cx="8585730" cy="6617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700" dirty="0">
                <a:solidFill>
                  <a:schemeClr val="bg1"/>
                </a:solidFill>
                <a:latin typeface="Montserrat" panose="00000500000000000000" pitchFamily="2" charset="0"/>
              </a:rPr>
              <a:t>The Idea Behind Transfer Learning</a:t>
            </a:r>
          </a:p>
        </p:txBody>
      </p:sp>
    </p:spTree>
    <p:extLst>
      <p:ext uri="{BB962C8B-B14F-4D97-AF65-F5344CB8AC3E}">
        <p14:creationId xmlns:p14="http://schemas.microsoft.com/office/powerpoint/2010/main" val="182477916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46494B1-AF69-3DED-4BC5-FAEFBBFDCC56}"/>
              </a:ext>
            </a:extLst>
          </p:cNvPr>
          <p:cNvSpPr/>
          <p:nvPr/>
        </p:nvSpPr>
        <p:spPr>
          <a:xfrm>
            <a:off x="2618232" y="1266152"/>
            <a:ext cx="3410712" cy="47606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ontserrat" panose="00000500000000000000" pitchFamily="2" charset="0"/>
                <a:sym typeface="Arial"/>
              </a:rPr>
              <a:t>VGG16 or DenseNet121</a:t>
            </a:r>
          </a:p>
        </p:txBody>
      </p:sp>
      <p:sp>
        <p:nvSpPr>
          <p:cNvPr id="6" name="Rectangle 5">
            <a:extLst>
              <a:ext uri="{FF2B5EF4-FFF2-40B4-BE49-F238E27FC236}">
                <a16:creationId xmlns:a16="http://schemas.microsoft.com/office/drawing/2014/main" id="{C757B9A8-E7F5-E9A2-C720-FDF052B05F0A}"/>
              </a:ext>
            </a:extLst>
          </p:cNvPr>
          <p:cNvSpPr/>
          <p:nvPr/>
        </p:nvSpPr>
        <p:spPr>
          <a:xfrm>
            <a:off x="1978152" y="2066654"/>
            <a:ext cx="4690872" cy="923328"/>
          </a:xfrm>
          <a:prstGeom prst="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ontserrat" panose="00000500000000000000" pitchFamily="2" charset="0"/>
                <a:sym typeface="Arial"/>
              </a:rPr>
              <a:t>Retrain the model to recognize pneumonia instead of objects like animals or cars</a:t>
            </a:r>
          </a:p>
        </p:txBody>
      </p:sp>
      <p:cxnSp>
        <p:nvCxnSpPr>
          <p:cNvPr id="8" name="Straight Connector 7">
            <a:extLst>
              <a:ext uri="{FF2B5EF4-FFF2-40B4-BE49-F238E27FC236}">
                <a16:creationId xmlns:a16="http://schemas.microsoft.com/office/drawing/2014/main" id="{85DC2ED3-197F-7DA8-18B5-94A52CE73CAB}"/>
              </a:ext>
            </a:extLst>
          </p:cNvPr>
          <p:cNvCxnSpPr>
            <a:stCxn id="2" idx="4"/>
            <a:endCxn id="6" idx="0"/>
          </p:cNvCxnSpPr>
          <p:nvPr/>
        </p:nvCxnSpPr>
        <p:spPr>
          <a:xfrm>
            <a:off x="4323588" y="1742221"/>
            <a:ext cx="0" cy="324433"/>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0" name="Picture 9" descr="A chest x-ray of a person&#10;&#10;AI-generated content may be incorrect.">
            <a:extLst>
              <a:ext uri="{FF2B5EF4-FFF2-40B4-BE49-F238E27FC236}">
                <a16:creationId xmlns:a16="http://schemas.microsoft.com/office/drawing/2014/main" id="{03077FB4-B8C9-D236-EA14-A8A4B3232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379" y="3995928"/>
            <a:ext cx="2521158" cy="2278380"/>
          </a:xfrm>
          <a:prstGeom prst="rect">
            <a:avLst/>
          </a:prstGeom>
        </p:spPr>
      </p:pic>
      <p:sp>
        <p:nvSpPr>
          <p:cNvPr id="13" name="TextBox 12">
            <a:extLst>
              <a:ext uri="{FF2B5EF4-FFF2-40B4-BE49-F238E27FC236}">
                <a16:creationId xmlns:a16="http://schemas.microsoft.com/office/drawing/2014/main" id="{5A92DBE6-388E-3849-E4C5-2D5B9E967A27}"/>
              </a:ext>
            </a:extLst>
          </p:cNvPr>
          <p:cNvSpPr txBox="1"/>
          <p:nvPr/>
        </p:nvSpPr>
        <p:spPr>
          <a:xfrm>
            <a:off x="1158846" y="3688153"/>
            <a:ext cx="179222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1"/>
                </a:solidFill>
                <a:effectLst/>
                <a:uFillTx/>
                <a:latin typeface="Montserrat" panose="00000500000000000000" pitchFamily="2" charset="0"/>
                <a:sym typeface="Arial"/>
              </a:rPr>
              <a:t>pneumonia</a:t>
            </a:r>
          </a:p>
        </p:txBody>
      </p:sp>
      <p:pic>
        <p:nvPicPr>
          <p:cNvPr id="15" name="Picture 14" descr="A x-ray of a person's chest&#10;&#10;AI-generated content may be incorrect.">
            <a:extLst>
              <a:ext uri="{FF2B5EF4-FFF2-40B4-BE49-F238E27FC236}">
                <a16:creationId xmlns:a16="http://schemas.microsoft.com/office/drawing/2014/main" id="{28925C40-0581-00E0-EA75-F2B5EDEA31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417" y="3995928"/>
            <a:ext cx="2278380" cy="2278380"/>
          </a:xfrm>
          <a:prstGeom prst="rect">
            <a:avLst/>
          </a:prstGeom>
        </p:spPr>
      </p:pic>
      <p:sp>
        <p:nvSpPr>
          <p:cNvPr id="16" name="TextBox 15">
            <a:extLst>
              <a:ext uri="{FF2B5EF4-FFF2-40B4-BE49-F238E27FC236}">
                <a16:creationId xmlns:a16="http://schemas.microsoft.com/office/drawing/2014/main" id="{774159AF-9455-BFB2-B1F5-38ACCC97B2D8}"/>
              </a:ext>
            </a:extLst>
          </p:cNvPr>
          <p:cNvSpPr txBox="1"/>
          <p:nvPr/>
        </p:nvSpPr>
        <p:spPr>
          <a:xfrm>
            <a:off x="5817495" y="3698857"/>
            <a:ext cx="179222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400" dirty="0">
                <a:solidFill>
                  <a:schemeClr val="bg1"/>
                </a:solidFill>
                <a:latin typeface="Montserrat" panose="00000500000000000000" pitchFamily="2" charset="0"/>
              </a:rPr>
              <a:t>h</a:t>
            </a:r>
            <a:r>
              <a:rPr kumimoji="0" lang="en-US" sz="1400" b="0" i="0" u="none" strike="noStrike" cap="none" spc="0" normalizeH="0" baseline="0" dirty="0">
                <a:ln>
                  <a:noFill/>
                </a:ln>
                <a:solidFill>
                  <a:schemeClr val="bg1"/>
                </a:solidFill>
                <a:effectLst/>
                <a:uFillTx/>
                <a:latin typeface="Montserrat" panose="00000500000000000000" pitchFamily="2" charset="0"/>
                <a:sym typeface="Arial"/>
              </a:rPr>
              <a:t>ealthy/normal</a:t>
            </a:r>
          </a:p>
        </p:txBody>
      </p:sp>
      <p:cxnSp>
        <p:nvCxnSpPr>
          <p:cNvPr id="18" name="Straight Arrow Connector 17">
            <a:extLst>
              <a:ext uri="{FF2B5EF4-FFF2-40B4-BE49-F238E27FC236}">
                <a16:creationId xmlns:a16="http://schemas.microsoft.com/office/drawing/2014/main" id="{648EED8E-FFBB-6D4B-49C8-54B4BFCE4B4F}"/>
              </a:ext>
            </a:extLst>
          </p:cNvPr>
          <p:cNvCxnSpPr>
            <a:stCxn id="6" idx="2"/>
            <a:endCxn id="13" idx="0"/>
          </p:cNvCxnSpPr>
          <p:nvPr/>
        </p:nvCxnSpPr>
        <p:spPr>
          <a:xfrm flipH="1">
            <a:off x="2054958" y="2989982"/>
            <a:ext cx="2268630" cy="69817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AAD689BA-20D0-5182-6E38-E89F74FB9739}"/>
              </a:ext>
            </a:extLst>
          </p:cNvPr>
          <p:cNvCxnSpPr>
            <a:stCxn id="6" idx="2"/>
            <a:endCxn id="16" idx="0"/>
          </p:cNvCxnSpPr>
          <p:nvPr/>
        </p:nvCxnSpPr>
        <p:spPr>
          <a:xfrm>
            <a:off x="4323588" y="2989982"/>
            <a:ext cx="2390019" cy="70887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14F552AB-C9C3-36B6-8953-0B6B62F2D4F0}"/>
              </a:ext>
            </a:extLst>
          </p:cNvPr>
          <p:cNvSpPr txBox="1"/>
          <p:nvPr/>
        </p:nvSpPr>
        <p:spPr>
          <a:xfrm>
            <a:off x="152712" y="336804"/>
            <a:ext cx="8424360" cy="6617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700" dirty="0">
                <a:solidFill>
                  <a:schemeClr val="bg1"/>
                </a:solidFill>
                <a:latin typeface="Montserrat" panose="00000500000000000000" pitchFamily="2" charset="0"/>
              </a:rPr>
              <a:t>The Idea Behind Transfer Learning</a:t>
            </a:r>
          </a:p>
        </p:txBody>
      </p:sp>
      <p:sp>
        <p:nvSpPr>
          <p:cNvPr id="22" name="Rectangle 21">
            <a:extLst>
              <a:ext uri="{FF2B5EF4-FFF2-40B4-BE49-F238E27FC236}">
                <a16:creationId xmlns:a16="http://schemas.microsoft.com/office/drawing/2014/main" id="{5BBFCDDB-F429-4D1A-6E4D-BD7F649DB4AE}"/>
              </a:ext>
            </a:extLst>
          </p:cNvPr>
          <p:cNvSpPr/>
          <p:nvPr/>
        </p:nvSpPr>
        <p:spPr>
          <a:xfrm>
            <a:off x="8577072" y="2498207"/>
            <a:ext cx="2820549" cy="1477325"/>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0000"/>
                </a:solidFill>
                <a:effectLst/>
                <a:uFillTx/>
                <a:latin typeface="Montserrat" panose="00000500000000000000" pitchFamily="2" charset="0"/>
                <a:sym typeface="Arial"/>
              </a:rPr>
              <a:t>This isn't the full story—but it's enough to understand how AI can quickly get really good at medical image tasks</a:t>
            </a:r>
          </a:p>
        </p:txBody>
      </p:sp>
    </p:spTree>
    <p:extLst>
      <p:ext uri="{BB962C8B-B14F-4D97-AF65-F5344CB8AC3E}">
        <p14:creationId xmlns:p14="http://schemas.microsoft.com/office/powerpoint/2010/main" val="119182749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02"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03"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a:latin typeface="Montserrat" panose="00000500000000000000" pitchFamily="2" charset="0"/>
              </a:rPr>
              <a:t>Model Evaluation and Comparison: Accuracy</a:t>
            </a:r>
          </a:p>
        </p:txBody>
      </p:sp>
      <p:sp>
        <p:nvSpPr>
          <p:cNvPr id="204" name="Object 3"/>
          <p:cNvSpPr txBox="1"/>
          <p:nvPr/>
        </p:nvSpPr>
        <p:spPr>
          <a:xfrm>
            <a:off x="476130" y="1045107"/>
            <a:ext cx="12188954" cy="270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100"/>
              </a:lnSpc>
              <a:spcBef>
                <a:spcPts val="1000"/>
              </a:spcBef>
              <a:defRPr>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Accuracy = Percentage of Correct</a:t>
            </a:r>
            <a:r>
              <a:rPr lang="en-US" dirty="0">
                <a:latin typeface="Montserrat" panose="00000500000000000000" pitchFamily="2" charset="0"/>
              </a:rPr>
              <a:t>ly</a:t>
            </a:r>
            <a:r>
              <a:rPr dirty="0">
                <a:latin typeface="Montserrat" panose="00000500000000000000" pitchFamily="2" charset="0"/>
              </a:rPr>
              <a:t> Identified Images</a:t>
            </a:r>
          </a:p>
        </p:txBody>
      </p:sp>
      <p:sp>
        <p:nvSpPr>
          <p:cNvPr id="205" name="Object 4"/>
          <p:cNvSpPr/>
          <p:nvPr/>
        </p:nvSpPr>
        <p:spPr>
          <a:xfrm>
            <a:off x="476134" y="2779317"/>
            <a:ext cx="1360376" cy="2353375"/>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06" name="Object 5"/>
          <p:cNvSpPr txBox="1"/>
          <p:nvPr/>
        </p:nvSpPr>
        <p:spPr>
          <a:xfrm>
            <a:off x="408115" y="5275159"/>
            <a:ext cx="1496355" cy="768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Tuned Random Forest</a:t>
            </a:r>
          </a:p>
        </p:txBody>
      </p:sp>
      <p:sp>
        <p:nvSpPr>
          <p:cNvPr id="207" name="Object 6"/>
          <p:cNvSpPr txBox="1"/>
          <p:nvPr/>
        </p:nvSpPr>
        <p:spPr>
          <a:xfrm>
            <a:off x="700661" y="3742713"/>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69%</a:t>
            </a:r>
          </a:p>
        </p:txBody>
      </p:sp>
      <p:sp>
        <p:nvSpPr>
          <p:cNvPr id="208" name="Object 7"/>
          <p:cNvSpPr/>
          <p:nvPr/>
        </p:nvSpPr>
        <p:spPr>
          <a:xfrm>
            <a:off x="2122129" y="2779317"/>
            <a:ext cx="1360375" cy="2353375"/>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09" name="Object 8"/>
          <p:cNvSpPr txBox="1"/>
          <p:nvPr/>
        </p:nvSpPr>
        <p:spPr>
          <a:xfrm>
            <a:off x="2054168" y="5275159"/>
            <a:ext cx="1496355" cy="768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Ensemble of Random Forests</a:t>
            </a:r>
          </a:p>
        </p:txBody>
      </p:sp>
      <p:sp>
        <p:nvSpPr>
          <p:cNvPr id="210" name="Object 9"/>
          <p:cNvSpPr txBox="1"/>
          <p:nvPr/>
        </p:nvSpPr>
        <p:spPr>
          <a:xfrm>
            <a:off x="2346713" y="3742713"/>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69%</a:t>
            </a:r>
          </a:p>
        </p:txBody>
      </p:sp>
      <p:sp>
        <p:nvSpPr>
          <p:cNvPr id="211" name="Object 10"/>
          <p:cNvSpPr/>
          <p:nvPr/>
        </p:nvSpPr>
        <p:spPr>
          <a:xfrm>
            <a:off x="3768204" y="2773893"/>
            <a:ext cx="1360375" cy="2358801"/>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12" name="Object 11"/>
          <p:cNvSpPr txBox="1"/>
          <p:nvPr/>
        </p:nvSpPr>
        <p:spPr>
          <a:xfrm>
            <a:off x="3700221"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Tuned SVM</a:t>
            </a:r>
          </a:p>
        </p:txBody>
      </p:sp>
      <p:sp>
        <p:nvSpPr>
          <p:cNvPr id="213" name="Object 12"/>
          <p:cNvSpPr txBox="1"/>
          <p:nvPr/>
        </p:nvSpPr>
        <p:spPr>
          <a:xfrm>
            <a:off x="3992765" y="3740001"/>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70%</a:t>
            </a:r>
          </a:p>
        </p:txBody>
      </p:sp>
      <p:sp>
        <p:nvSpPr>
          <p:cNvPr id="214" name="Object 13"/>
          <p:cNvSpPr/>
          <p:nvPr/>
        </p:nvSpPr>
        <p:spPr>
          <a:xfrm>
            <a:off x="5414279" y="2746432"/>
            <a:ext cx="1360376" cy="2386260"/>
          </a:xfrm>
          <a:prstGeom prst="rect">
            <a:avLst/>
          </a:prstGeom>
          <a:solidFill>
            <a:srgbClr val="DC582A">
              <a:alpha val="20000"/>
            </a:srgbClr>
          </a:solidFill>
          <a:ln w="25400">
            <a:solidFill>
              <a:srgbClr val="DC582A"/>
            </a:solidFill>
            <a:miter/>
          </a:ln>
        </p:spPr>
        <p:txBody>
          <a:bodyPr lIns="45719" rIns="45719"/>
          <a:lstStyle/>
          <a:p>
            <a:endParaRPr>
              <a:latin typeface="Montserrat" panose="00000500000000000000" pitchFamily="2" charset="0"/>
            </a:endParaRPr>
          </a:p>
        </p:txBody>
      </p:sp>
      <p:sp>
        <p:nvSpPr>
          <p:cNvPr id="215" name="Object 14"/>
          <p:cNvSpPr txBox="1"/>
          <p:nvPr/>
        </p:nvSpPr>
        <p:spPr>
          <a:xfrm>
            <a:off x="5346272"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Base SVM</a:t>
            </a:r>
          </a:p>
        </p:txBody>
      </p:sp>
      <p:sp>
        <p:nvSpPr>
          <p:cNvPr id="216" name="Object 15"/>
          <p:cNvSpPr txBox="1"/>
          <p:nvPr/>
        </p:nvSpPr>
        <p:spPr>
          <a:xfrm>
            <a:off x="5638818" y="3726271"/>
            <a:ext cx="911316"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latin typeface="Montserrat Thin Bold"/>
                <a:ea typeface="Montserrat Thin Bold"/>
                <a:cs typeface="Montserrat Thin Bold"/>
                <a:sym typeface="Montserrat Thin Bold"/>
              </a:defRPr>
            </a:lvl1pPr>
          </a:lstStyle>
          <a:p>
            <a:r>
              <a:rPr>
                <a:latin typeface="Montserrat" panose="00000500000000000000" pitchFamily="2" charset="0"/>
              </a:rPr>
              <a:t>70%</a:t>
            </a:r>
          </a:p>
        </p:txBody>
      </p:sp>
      <p:sp>
        <p:nvSpPr>
          <p:cNvPr id="217" name="Object 16"/>
          <p:cNvSpPr/>
          <p:nvPr/>
        </p:nvSpPr>
        <p:spPr>
          <a:xfrm>
            <a:off x="7060276" y="2148427"/>
            <a:ext cx="1360375" cy="2984265"/>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18" name="Object 17"/>
          <p:cNvSpPr txBox="1"/>
          <p:nvPr/>
        </p:nvSpPr>
        <p:spPr>
          <a:xfrm>
            <a:off x="6992325"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DenseNet121</a:t>
            </a:r>
          </a:p>
        </p:txBody>
      </p:sp>
      <p:sp>
        <p:nvSpPr>
          <p:cNvPr id="219" name="Object 18"/>
          <p:cNvSpPr txBox="1"/>
          <p:nvPr/>
        </p:nvSpPr>
        <p:spPr>
          <a:xfrm>
            <a:off x="7279633" y="3427267"/>
            <a:ext cx="921790" cy="430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a:t>
            </a:r>
          </a:p>
        </p:txBody>
      </p:sp>
      <p:sp>
        <p:nvSpPr>
          <p:cNvPr id="220" name="Object 19"/>
          <p:cNvSpPr/>
          <p:nvPr/>
        </p:nvSpPr>
        <p:spPr>
          <a:xfrm>
            <a:off x="8706350" y="2137580"/>
            <a:ext cx="1360375" cy="2995112"/>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21" name="Object 20"/>
          <p:cNvSpPr txBox="1"/>
          <p:nvPr/>
        </p:nvSpPr>
        <p:spPr>
          <a:xfrm>
            <a:off x="8638378" y="5275159"/>
            <a:ext cx="1496354"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Custom CNN</a:t>
            </a:r>
          </a:p>
        </p:txBody>
      </p:sp>
      <p:sp>
        <p:nvSpPr>
          <p:cNvPr id="222" name="Object 21"/>
          <p:cNvSpPr txBox="1"/>
          <p:nvPr/>
        </p:nvSpPr>
        <p:spPr>
          <a:xfrm>
            <a:off x="8925686" y="3421843"/>
            <a:ext cx="921790" cy="430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a:t>
            </a:r>
          </a:p>
        </p:txBody>
      </p:sp>
      <p:sp>
        <p:nvSpPr>
          <p:cNvPr id="223" name="Object 22"/>
          <p:cNvSpPr/>
          <p:nvPr/>
        </p:nvSpPr>
        <p:spPr>
          <a:xfrm>
            <a:off x="10352426" y="1918243"/>
            <a:ext cx="1360375" cy="3214449"/>
          </a:xfrm>
          <a:prstGeom prst="rect">
            <a:avLst/>
          </a:prstGeom>
          <a:solidFill>
            <a:srgbClr val="DC582A"/>
          </a:solidFill>
          <a:ln w="25400">
            <a:solidFill>
              <a:srgbClr val="DC582A"/>
            </a:solidFill>
            <a:miter/>
          </a:ln>
        </p:spPr>
        <p:txBody>
          <a:bodyPr lIns="45719" rIns="45719"/>
          <a:lstStyle/>
          <a:p>
            <a:endParaRPr>
              <a:latin typeface="Montserrat" panose="00000500000000000000" pitchFamily="2" charset="0"/>
            </a:endParaRPr>
          </a:p>
        </p:txBody>
      </p:sp>
      <p:sp>
        <p:nvSpPr>
          <p:cNvPr id="224" name="Object 23"/>
          <p:cNvSpPr txBox="1"/>
          <p:nvPr/>
        </p:nvSpPr>
        <p:spPr>
          <a:xfrm>
            <a:off x="10284429" y="5275159"/>
            <a:ext cx="1496354" cy="26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a:latin typeface="Montserrat" panose="00000500000000000000" pitchFamily="2" charset="0"/>
              </a:rPr>
              <a:t>VGG16</a:t>
            </a:r>
          </a:p>
        </p:txBody>
      </p:sp>
      <p:sp>
        <p:nvSpPr>
          <p:cNvPr id="225" name="Object 24"/>
          <p:cNvSpPr txBox="1"/>
          <p:nvPr/>
        </p:nvSpPr>
        <p:spPr>
          <a:xfrm>
            <a:off x="10592688" y="3312176"/>
            <a:ext cx="879891" cy="43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3300"/>
              </a:lnSpc>
              <a:defRPr sz="30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95%</a:t>
            </a:r>
          </a:p>
        </p:txBody>
      </p:sp>
      <p:pic>
        <p:nvPicPr>
          <p:cNvPr id="226" name="Object 25" descr="Object 25"/>
          <p:cNvPicPr>
            <a:picLocks noChangeAspect="1"/>
          </p:cNvPicPr>
          <p:nvPr/>
        </p:nvPicPr>
        <p:blipFill>
          <a:blip r:embed="rId3"/>
          <a:stretch>
            <a:fillRect/>
          </a:stretch>
        </p:blipFill>
        <p:spPr>
          <a:xfrm>
            <a:off x="11170032" y="6531303"/>
            <a:ext cx="876082" cy="173833"/>
          </a:xfrm>
          <a:prstGeom prst="rect">
            <a:avLst/>
          </a:prstGeom>
          <a:ln w="12700">
            <a:miter lim="400000"/>
          </a:ln>
        </p:spPr>
      </p:pic>
      <p:sp>
        <p:nvSpPr>
          <p:cNvPr id="227" name="Object 26"/>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000000">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30" name="Object 2"/>
          <p:cNvSpPr txBox="1"/>
          <p:nvPr/>
        </p:nvSpPr>
        <p:spPr>
          <a:xfrm>
            <a:off x="476131" y="376143"/>
            <a:ext cx="6945501"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Best model: VGG16 with transfer learning applied</a:t>
            </a:r>
          </a:p>
        </p:txBody>
      </p:sp>
      <p:pic>
        <p:nvPicPr>
          <p:cNvPr id="231" name="Object 3" descr="Object 3"/>
          <p:cNvPicPr>
            <a:picLocks noChangeAspect="1"/>
          </p:cNvPicPr>
          <p:nvPr/>
        </p:nvPicPr>
        <p:blipFill>
          <a:blip r:embed="rId3"/>
          <a:stretch>
            <a:fillRect/>
          </a:stretch>
        </p:blipFill>
        <p:spPr>
          <a:xfrm>
            <a:off x="476139" y="2780827"/>
            <a:ext cx="2094977" cy="2104500"/>
          </a:xfrm>
          <a:prstGeom prst="rect">
            <a:avLst/>
          </a:prstGeom>
          <a:ln w="12700">
            <a:miter lim="400000"/>
          </a:ln>
        </p:spPr>
      </p:pic>
      <p:pic>
        <p:nvPicPr>
          <p:cNvPr id="232" name="Object 4" descr="Object 4"/>
          <p:cNvPicPr>
            <a:picLocks noChangeAspect="1"/>
          </p:cNvPicPr>
          <p:nvPr/>
        </p:nvPicPr>
        <p:blipFill>
          <a:blip r:embed="rId4"/>
          <a:stretch>
            <a:fillRect/>
          </a:stretch>
        </p:blipFill>
        <p:spPr>
          <a:xfrm>
            <a:off x="476020" y="2780827"/>
            <a:ext cx="2104500" cy="2104500"/>
          </a:xfrm>
          <a:prstGeom prst="rect">
            <a:avLst/>
          </a:prstGeom>
          <a:ln w="12700">
            <a:miter lim="400000"/>
          </a:ln>
        </p:spPr>
      </p:pic>
      <p:sp>
        <p:nvSpPr>
          <p:cNvPr id="233" name="Object 5"/>
          <p:cNvSpPr txBox="1"/>
          <p:nvPr/>
        </p:nvSpPr>
        <p:spPr>
          <a:xfrm>
            <a:off x="664678" y="3570891"/>
            <a:ext cx="1717882" cy="5078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3900"/>
              </a:lnSpc>
              <a:defRPr sz="35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94.82%</a:t>
            </a:r>
          </a:p>
        </p:txBody>
      </p:sp>
      <p:sp>
        <p:nvSpPr>
          <p:cNvPr id="234" name="Object 6"/>
          <p:cNvSpPr txBox="1"/>
          <p:nvPr/>
        </p:nvSpPr>
        <p:spPr>
          <a:xfrm>
            <a:off x="371381" y="5018285"/>
            <a:ext cx="2304476" cy="15254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Accuracy</a:t>
            </a:r>
            <a:endParaRPr lang="en-US" b="1" dirty="0">
              <a:latin typeface="Montserrat" panose="00000500000000000000" pitchFamily="2" charset="0"/>
            </a:endParaRPr>
          </a:p>
          <a:p>
            <a:r>
              <a:rPr lang="en-US" sz="1200" b="1" dirty="0">
                <a:latin typeface="Montserrat" panose="00000500000000000000" pitchFamily="2" charset="0"/>
              </a:rPr>
              <a:t>(Measures the overall percentage of correct predictions, including both pneumonia and healthy cases.)</a:t>
            </a:r>
            <a:endParaRPr sz="1200" b="1" dirty="0">
              <a:latin typeface="Montserrat" panose="00000500000000000000" pitchFamily="2" charset="0"/>
            </a:endParaRPr>
          </a:p>
        </p:txBody>
      </p:sp>
      <p:pic>
        <p:nvPicPr>
          <p:cNvPr id="235" name="Object 7" descr="Object 7"/>
          <p:cNvPicPr>
            <a:picLocks noChangeAspect="1"/>
          </p:cNvPicPr>
          <p:nvPr/>
        </p:nvPicPr>
        <p:blipFill>
          <a:blip r:embed="rId5"/>
          <a:stretch>
            <a:fillRect/>
          </a:stretch>
        </p:blipFill>
        <p:spPr>
          <a:xfrm>
            <a:off x="3523362" y="2780827"/>
            <a:ext cx="2104500" cy="2104500"/>
          </a:xfrm>
          <a:prstGeom prst="rect">
            <a:avLst/>
          </a:prstGeom>
          <a:ln w="12700">
            <a:miter lim="400000"/>
          </a:ln>
        </p:spPr>
      </p:pic>
      <p:pic>
        <p:nvPicPr>
          <p:cNvPr id="236" name="Object 8" descr="Object 8"/>
          <p:cNvPicPr>
            <a:picLocks noChangeAspect="1"/>
          </p:cNvPicPr>
          <p:nvPr/>
        </p:nvPicPr>
        <p:blipFill>
          <a:blip r:embed="rId6"/>
          <a:stretch>
            <a:fillRect/>
          </a:stretch>
        </p:blipFill>
        <p:spPr>
          <a:xfrm>
            <a:off x="3523422" y="2780827"/>
            <a:ext cx="2104500" cy="2104500"/>
          </a:xfrm>
          <a:prstGeom prst="rect">
            <a:avLst/>
          </a:prstGeom>
          <a:ln w="12700">
            <a:miter lim="400000"/>
          </a:ln>
        </p:spPr>
      </p:pic>
      <p:sp>
        <p:nvSpPr>
          <p:cNvPr id="237" name="Object 9"/>
          <p:cNvSpPr txBox="1"/>
          <p:nvPr/>
        </p:nvSpPr>
        <p:spPr>
          <a:xfrm>
            <a:off x="3711916" y="3555996"/>
            <a:ext cx="1717881" cy="54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93.61%</a:t>
            </a:r>
          </a:p>
        </p:txBody>
      </p:sp>
      <p:sp>
        <p:nvSpPr>
          <p:cNvPr id="238" name="Object 10"/>
          <p:cNvSpPr txBox="1"/>
          <p:nvPr/>
        </p:nvSpPr>
        <p:spPr>
          <a:xfrm>
            <a:off x="3418619" y="5018285"/>
            <a:ext cx="2304476" cy="999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Precision</a:t>
            </a:r>
            <a:endParaRPr lang="en-US" b="1" dirty="0">
              <a:latin typeface="Montserrat" panose="00000500000000000000" pitchFamily="2" charset="0"/>
            </a:endParaRPr>
          </a:p>
          <a:p>
            <a:r>
              <a:rPr lang="en-US" sz="1200" b="1" dirty="0">
                <a:latin typeface="Montserrat" panose="00000500000000000000" pitchFamily="2" charset="0"/>
              </a:rPr>
              <a:t>(Measures how often predicted pneumonia cases are correct.)</a:t>
            </a:r>
            <a:endParaRPr sz="1200" b="1" dirty="0">
              <a:latin typeface="Montserrat" panose="00000500000000000000" pitchFamily="2" charset="0"/>
            </a:endParaRPr>
          </a:p>
        </p:txBody>
      </p:sp>
      <p:pic>
        <p:nvPicPr>
          <p:cNvPr id="239" name="Object 11" descr="Object 11"/>
          <p:cNvPicPr>
            <a:picLocks noChangeAspect="1"/>
          </p:cNvPicPr>
          <p:nvPr/>
        </p:nvPicPr>
        <p:blipFill>
          <a:blip r:embed="rId5"/>
          <a:stretch>
            <a:fillRect/>
          </a:stretch>
        </p:blipFill>
        <p:spPr>
          <a:xfrm>
            <a:off x="6570605" y="2780827"/>
            <a:ext cx="2104500" cy="2104500"/>
          </a:xfrm>
          <a:prstGeom prst="rect">
            <a:avLst/>
          </a:prstGeom>
          <a:ln w="12700">
            <a:miter lim="400000"/>
          </a:ln>
        </p:spPr>
      </p:pic>
      <p:pic>
        <p:nvPicPr>
          <p:cNvPr id="240" name="Object 12" descr="Object 12"/>
          <p:cNvPicPr>
            <a:picLocks noChangeAspect="1"/>
          </p:cNvPicPr>
          <p:nvPr/>
        </p:nvPicPr>
        <p:blipFill>
          <a:blip r:embed="rId7"/>
          <a:stretch>
            <a:fillRect/>
          </a:stretch>
        </p:blipFill>
        <p:spPr>
          <a:xfrm>
            <a:off x="6570347" y="2780827"/>
            <a:ext cx="2104500" cy="2104500"/>
          </a:xfrm>
          <a:prstGeom prst="rect">
            <a:avLst/>
          </a:prstGeom>
          <a:ln w="12700">
            <a:miter lim="400000"/>
          </a:ln>
        </p:spPr>
      </p:pic>
      <p:sp>
        <p:nvSpPr>
          <p:cNvPr id="241" name="Object 13"/>
          <p:cNvSpPr txBox="1"/>
          <p:nvPr/>
        </p:nvSpPr>
        <p:spPr>
          <a:xfrm>
            <a:off x="6759154" y="3559026"/>
            <a:ext cx="1717881"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98.45%</a:t>
            </a:r>
          </a:p>
        </p:txBody>
      </p:sp>
      <p:sp>
        <p:nvSpPr>
          <p:cNvPr id="242" name="Object 14"/>
          <p:cNvSpPr txBox="1"/>
          <p:nvPr/>
        </p:nvSpPr>
        <p:spPr>
          <a:xfrm>
            <a:off x="6465858" y="5018285"/>
            <a:ext cx="2304475" cy="1256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Recall</a:t>
            </a:r>
            <a:endParaRPr lang="en-US" b="1" dirty="0">
              <a:latin typeface="Montserrat" panose="00000500000000000000" pitchFamily="2" charset="0"/>
            </a:endParaRPr>
          </a:p>
          <a:p>
            <a:r>
              <a:rPr lang="en-US" sz="1200" b="1" dirty="0">
                <a:latin typeface="Montserrat" panose="00000500000000000000" pitchFamily="2" charset="0"/>
              </a:rPr>
              <a:t>(Measures how often the system correctly detects pneumonia when it is present.)</a:t>
            </a:r>
          </a:p>
        </p:txBody>
      </p:sp>
      <p:pic>
        <p:nvPicPr>
          <p:cNvPr id="243" name="Object 15" descr="Object 15"/>
          <p:cNvPicPr>
            <a:picLocks noChangeAspect="1"/>
          </p:cNvPicPr>
          <p:nvPr/>
        </p:nvPicPr>
        <p:blipFill>
          <a:blip r:embed="rId3"/>
          <a:stretch>
            <a:fillRect/>
          </a:stretch>
        </p:blipFill>
        <p:spPr>
          <a:xfrm>
            <a:off x="9617850" y="2780827"/>
            <a:ext cx="2094977" cy="2104500"/>
          </a:xfrm>
          <a:prstGeom prst="rect">
            <a:avLst/>
          </a:prstGeom>
          <a:ln w="12700">
            <a:miter lim="400000"/>
          </a:ln>
        </p:spPr>
      </p:pic>
      <p:pic>
        <p:nvPicPr>
          <p:cNvPr id="244" name="Object 16" descr="Object 16"/>
          <p:cNvPicPr>
            <a:picLocks noChangeAspect="1"/>
          </p:cNvPicPr>
          <p:nvPr/>
        </p:nvPicPr>
        <p:blipFill>
          <a:blip r:embed="rId8"/>
          <a:stretch>
            <a:fillRect/>
          </a:stretch>
        </p:blipFill>
        <p:spPr>
          <a:xfrm>
            <a:off x="9617870" y="2780827"/>
            <a:ext cx="2094977" cy="2104500"/>
          </a:xfrm>
          <a:prstGeom prst="rect">
            <a:avLst/>
          </a:prstGeom>
          <a:ln w="12700">
            <a:miter lim="400000"/>
          </a:ln>
        </p:spPr>
      </p:pic>
      <p:sp>
        <p:nvSpPr>
          <p:cNvPr id="245" name="Object 17"/>
          <p:cNvSpPr txBox="1"/>
          <p:nvPr/>
        </p:nvSpPr>
        <p:spPr>
          <a:xfrm>
            <a:off x="9806392" y="3559026"/>
            <a:ext cx="1717881" cy="538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a:latin typeface="Montserrat" panose="00000500000000000000" pitchFamily="2" charset="0"/>
              </a:rPr>
              <a:t>88.74%</a:t>
            </a:r>
          </a:p>
        </p:txBody>
      </p:sp>
      <p:sp>
        <p:nvSpPr>
          <p:cNvPr id="246" name="Object 18"/>
          <p:cNvSpPr txBox="1"/>
          <p:nvPr/>
        </p:nvSpPr>
        <p:spPr>
          <a:xfrm>
            <a:off x="9513096" y="5018285"/>
            <a:ext cx="2304475" cy="9950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solidFill>
                  <a:srgbClr val="FFFFFF"/>
                </a:solidFill>
                <a:latin typeface="Montserrat Thin Regular"/>
                <a:ea typeface="Montserrat Thin Regular"/>
                <a:cs typeface="Montserrat Thin Regular"/>
                <a:sym typeface="Montserrat Thin Regular"/>
              </a:defRPr>
            </a:lvl1pPr>
          </a:lstStyle>
          <a:p>
            <a:r>
              <a:rPr b="1" dirty="0">
                <a:latin typeface="Montserrat" panose="00000500000000000000" pitchFamily="2" charset="0"/>
              </a:rPr>
              <a:t>Specificity</a:t>
            </a:r>
            <a:endParaRPr lang="en-US" b="1" dirty="0">
              <a:latin typeface="Montserrat" panose="00000500000000000000" pitchFamily="2" charset="0"/>
            </a:endParaRPr>
          </a:p>
          <a:p>
            <a:r>
              <a:rPr lang="en-US" sz="1200" b="1" dirty="0">
                <a:latin typeface="Montserrat" panose="00000500000000000000" pitchFamily="2" charset="0"/>
              </a:rPr>
              <a:t>(Measures how often the system correctly identifies healthy patients.)</a:t>
            </a:r>
          </a:p>
        </p:txBody>
      </p:sp>
      <p:pic>
        <p:nvPicPr>
          <p:cNvPr id="247" name="Object 19" descr="Object 19"/>
          <p:cNvPicPr>
            <a:picLocks noChangeAspect="1"/>
          </p:cNvPicPr>
          <p:nvPr/>
        </p:nvPicPr>
        <p:blipFill>
          <a:blip r:embed="rId9"/>
          <a:stretch>
            <a:fillRect/>
          </a:stretch>
        </p:blipFill>
        <p:spPr>
          <a:xfrm>
            <a:off x="11170032" y="6531303"/>
            <a:ext cx="876082" cy="173833"/>
          </a:xfrm>
          <a:prstGeom prst="rect">
            <a:avLst/>
          </a:prstGeom>
          <a:ln w="12700">
            <a:miter lim="400000"/>
          </a:ln>
        </p:spPr>
      </p:pic>
      <p:sp>
        <p:nvSpPr>
          <p:cNvPr id="248" name="Object 20"/>
          <p:cNvSpPr txBox="1"/>
          <p:nvPr/>
        </p:nvSpPr>
        <p:spPr>
          <a:xfrm>
            <a:off x="961783" y="6559098"/>
            <a:ext cx="10265385" cy="1154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©2025 Inteleos Inc. Proprietary and Confidential. All Rights Reserved.</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stretch>
            <a:fillRect/>
          </a:stretch>
        </p:blipFill>
        <p:spPr>
          <a:xfrm>
            <a:off x="1978621" y="2782241"/>
            <a:ext cx="9874956" cy="638015"/>
          </a:xfrm>
          <a:prstGeom prst="rect">
            <a:avLst/>
          </a:prstGeom>
        </p:spPr>
      </p:pic>
      <p:sp>
        <p:nvSpPr>
          <p:cNvPr id="3" name="Object 2"/>
          <p:cNvSpPr/>
          <p:nvPr/>
        </p:nvSpPr>
        <p:spPr>
          <a:xfrm>
            <a:off x="195443" y="2592480"/>
            <a:ext cx="1602657" cy="1013117"/>
          </a:xfrm>
          <a:prstGeom prst="rect">
            <a:avLst/>
          </a:prstGeom>
          <a:noFill/>
        </p:spPr>
        <p:txBody>
          <a:bodyPr wrap="square" lIns="0" tIns="0" rIns="0" bIns="0" rtlCol="0" anchor="t"/>
          <a:lstStyle/>
          <a:p>
            <a:pPr marL="0" marR="0" lvl="0" indent="0" algn="r" defTabSz="914400" rtl="0" eaLnBrk="1" fontAlgn="auto" latinLnBrk="0" hangingPunct="1">
              <a:lnSpc>
                <a:spcPts val="7980"/>
              </a:lnSpc>
              <a:spcBef>
                <a:spcPts val="0"/>
              </a:spcBef>
              <a:spcAft>
                <a:spcPts val="0"/>
              </a:spcAft>
              <a:buClrTx/>
              <a:buSzTx/>
              <a:buFontTx/>
              <a:buNone/>
              <a:tabLst/>
              <a:defRPr/>
            </a:pPr>
            <a:r>
              <a:rPr kumimoji="0" lang="en-US" sz="7125" b="1" i="0" u="none" strike="noStrike" kern="0" cap="none" spc="-214" normalizeH="0" baseline="0" noProof="0" dirty="0">
                <a:ln>
                  <a:noFill/>
                </a:ln>
                <a:solidFill>
                  <a:srgbClr val="000000"/>
                </a:solidFill>
                <a:effectLst/>
                <a:uLnTx/>
                <a:uFillTx/>
                <a:latin typeface="Montserrat" pitchFamily="34" charset="0"/>
                <a:ea typeface="Montserrat" pitchFamily="34" charset="-122"/>
                <a:cs typeface="Montserrat" pitchFamily="34" charset="-120"/>
              </a:rPr>
              <a:t>11%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Object 3"/>
          <p:cNvSpPr/>
          <p:nvPr/>
        </p:nvSpPr>
        <p:spPr>
          <a:xfrm>
            <a:off x="1978592" y="3496788"/>
            <a:ext cx="10821415" cy="234494"/>
          </a:xfrm>
          <a:prstGeom prst="rect">
            <a:avLst/>
          </a:prstGeom>
          <a:noFill/>
        </p:spPr>
        <p:txBody>
          <a:bodyPr wrap="square" lIns="0" tIns="0" rIns="0" bIns="0" rtlCol="0" anchor="t"/>
          <a:lstStyle/>
          <a:p>
            <a:pPr marL="0" marR="0" lvl="0" indent="0" algn="l" defTabSz="914400" rtl="0" eaLnBrk="1" fontAlgn="auto" latinLnBrk="0" hangingPunct="1">
              <a:lnSpc>
                <a:spcPts val="1848"/>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False Positive Rate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5" name="Object 4"/>
          <p:cNvPicPr>
            <a:picLocks noChangeAspect="1"/>
          </p:cNvPicPr>
          <p:nvPr/>
        </p:nvPicPr>
        <p:blipFill>
          <a:blip r:embed="rId4"/>
          <a:stretch>
            <a:fillRect/>
          </a:stretch>
        </p:blipFill>
        <p:spPr>
          <a:xfrm>
            <a:off x="11170032" y="6531304"/>
            <a:ext cx="876081" cy="173832"/>
          </a:xfrm>
          <a:prstGeom prst="rect">
            <a:avLst/>
          </a:prstGeom>
        </p:spPr>
      </p:pic>
      <p:sp>
        <p:nvSpPr>
          <p:cNvPr id="6" name="Object 5"/>
          <p:cNvSpPr/>
          <p:nvPr/>
        </p:nvSpPr>
        <p:spPr>
          <a:xfrm>
            <a:off x="961784" y="6553496"/>
            <a:ext cx="10265383" cy="117247"/>
          </a:xfrm>
          <a:prstGeom prst="rect">
            <a:avLst/>
          </a:prstGeom>
          <a:noFill/>
        </p:spPr>
        <p:txBody>
          <a:bodyPr wrap="square" lIns="0" tIns="0" rIns="0" bIns="0" rtlCol="0" anchor="ctr"/>
          <a:lstStyle/>
          <a:p>
            <a:pPr marL="0" marR="0" lvl="0" indent="0" algn="ctr" defTabSz="914400" rtl="0" eaLnBrk="1" fontAlgn="auto" latinLnBrk="0" hangingPunct="1">
              <a:lnSpc>
                <a:spcPts val="924"/>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000000">
                    <a:alpha val="80000"/>
                  </a:srgbClr>
                </a:solidFill>
                <a:effectLst/>
                <a:uLnTx/>
                <a:uFillTx/>
                <a:latin typeface="Montserrat" pitchFamily="34" charset="0"/>
                <a:ea typeface="Montserrat" pitchFamily="34" charset="-122"/>
                <a:cs typeface="Montserrat" pitchFamily="34" charset="-120"/>
              </a:rPr>
              <a:t>©2025 Inteleos Inc. Proprietary and Confidential. All Rights Reserved.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3"/>
          <a:stretch>
            <a:fillRect/>
          </a:stretch>
        </p:blipFill>
        <p:spPr>
          <a:xfrm>
            <a:off x="2312211" y="2803518"/>
            <a:ext cx="9522619" cy="618970"/>
          </a:xfrm>
          <a:prstGeom prst="rect">
            <a:avLst/>
          </a:prstGeom>
        </p:spPr>
      </p:pic>
      <p:sp>
        <p:nvSpPr>
          <p:cNvPr id="3" name="Object 2"/>
          <p:cNvSpPr/>
          <p:nvPr/>
        </p:nvSpPr>
        <p:spPr>
          <a:xfrm>
            <a:off x="179324" y="2621571"/>
            <a:ext cx="1958803" cy="970414"/>
          </a:xfrm>
          <a:prstGeom prst="rect">
            <a:avLst/>
          </a:prstGeom>
          <a:noFill/>
        </p:spPr>
        <p:txBody>
          <a:bodyPr wrap="square" lIns="0" tIns="0" rIns="0" bIns="0" rtlCol="0" anchor="t"/>
          <a:lstStyle/>
          <a:p>
            <a:pPr algn="r">
              <a:lnSpc>
                <a:spcPts val="7644"/>
              </a:lnSpc>
              <a:buNone/>
            </a:pPr>
            <a:r>
              <a:rPr lang="en-US" sz="6825" b="1" kern="0" spc="-205" dirty="0">
                <a:solidFill>
                  <a:srgbClr val="000000"/>
                </a:solidFill>
                <a:latin typeface="Montserrat" pitchFamily="34" charset="0"/>
                <a:ea typeface="Montserrat" pitchFamily="34" charset="-122"/>
                <a:cs typeface="Montserrat" pitchFamily="34" charset="-120"/>
              </a:rPr>
              <a:t>1.6%</a:t>
            </a:r>
            <a:endParaRPr lang="en-US" dirty="0"/>
          </a:p>
        </p:txBody>
      </p:sp>
      <p:sp>
        <p:nvSpPr>
          <p:cNvPr id="4" name="Object 3"/>
          <p:cNvSpPr/>
          <p:nvPr/>
        </p:nvSpPr>
        <p:spPr>
          <a:xfrm>
            <a:off x="2312141" y="3487040"/>
            <a:ext cx="10471280" cy="223930"/>
          </a:xfrm>
          <a:prstGeom prst="rect">
            <a:avLst/>
          </a:prstGeom>
          <a:noFill/>
        </p:spPr>
        <p:txBody>
          <a:bodyPr wrap="square" lIns="0" tIns="0" rIns="0" bIns="0" rtlCol="0" anchor="t"/>
          <a:lstStyle/>
          <a:p>
            <a:pPr algn="l">
              <a:lnSpc>
                <a:spcPts val="1764"/>
              </a:lnSpc>
              <a:buNone/>
            </a:pPr>
            <a:r>
              <a:rPr lang="en-US" sz="1575" dirty="0">
                <a:solidFill>
                  <a:srgbClr val="000000">
                    <a:alpha val="80000"/>
                  </a:srgbClr>
                </a:solidFill>
                <a:latin typeface="Montserrat" pitchFamily="34" charset="0"/>
                <a:ea typeface="Montserrat" pitchFamily="34" charset="-122"/>
                <a:cs typeface="Montserrat" pitchFamily="34" charset="-120"/>
              </a:rPr>
              <a:t>False Negative Rate</a:t>
            </a:r>
            <a:endParaRPr lang="en-US" dirty="0"/>
          </a:p>
        </p:txBody>
      </p:sp>
      <p:pic>
        <p:nvPicPr>
          <p:cNvPr id="5" name="Object 4"/>
          <p:cNvPicPr>
            <a:picLocks noChangeAspect="1"/>
          </p:cNvPicPr>
          <p:nvPr/>
        </p:nvPicPr>
        <p:blipFill>
          <a:blip r:embed="rId4"/>
          <a:stretch>
            <a:fillRect/>
          </a:stretch>
        </p:blipFill>
        <p:spPr>
          <a:xfrm>
            <a:off x="11170032" y="6531304"/>
            <a:ext cx="876081" cy="173832"/>
          </a:xfrm>
          <a:prstGeom prst="rect">
            <a:avLst/>
          </a:prstGeom>
        </p:spPr>
      </p:pic>
      <p:sp>
        <p:nvSpPr>
          <p:cNvPr id="6" name="Object 5"/>
          <p:cNvSpPr/>
          <p:nvPr/>
        </p:nvSpPr>
        <p:spPr>
          <a:xfrm>
            <a:off x="961784" y="6553496"/>
            <a:ext cx="10265383" cy="117247"/>
          </a:xfrm>
          <a:prstGeom prst="rect">
            <a:avLst/>
          </a:prstGeom>
          <a:noFill/>
        </p:spPr>
        <p:txBody>
          <a:bodyPr wrap="square" lIns="0" tIns="0" rIns="0" bIns="0" rtlCol="0" anchor="ctr"/>
          <a:lstStyle/>
          <a:p>
            <a:pPr algn="ctr">
              <a:lnSpc>
                <a:spcPts val="924"/>
              </a:lnSpc>
              <a:buNone/>
            </a:pPr>
            <a:r>
              <a:rPr lang="en-US" sz="825" dirty="0">
                <a:solidFill>
                  <a:srgbClr val="000000">
                    <a:alpha val="80000"/>
                  </a:srgbClr>
                </a:solidFill>
                <a:latin typeface="Montserrat" pitchFamily="34" charset="0"/>
                <a:ea typeface="Montserrat" pitchFamily="34" charset="-122"/>
                <a:cs typeface="Montserrat" pitchFamily="34" charset="-120"/>
              </a:rPr>
              <a:t>©2025 Inteleos Inc. Proprietary and Confidential. All Rights Reserved.</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Object 1"/>
          <p:cNvSpPr txBox="1"/>
          <p:nvPr/>
        </p:nvSpPr>
        <p:spPr>
          <a:xfrm>
            <a:off x="1564090" y="2551659"/>
            <a:ext cx="9060772" cy="2103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600"/>
              </a:lnSpc>
              <a:defRPr sz="1500">
                <a:solidFill>
                  <a:srgbClr val="FFFFFF"/>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6. Conclusion</a:t>
            </a:r>
          </a:p>
        </p:txBody>
      </p:sp>
      <p:sp>
        <p:nvSpPr>
          <p:cNvPr id="263" name="Object 2"/>
          <p:cNvSpPr txBox="1"/>
          <p:nvPr/>
        </p:nvSpPr>
        <p:spPr>
          <a:xfrm>
            <a:off x="1564090" y="2870440"/>
            <a:ext cx="9060772" cy="15272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What </a:t>
            </a:r>
            <a:r>
              <a:rPr lang="en-US" dirty="0">
                <a:latin typeface="Montserrat" panose="00000500000000000000" pitchFamily="2" charset="0"/>
              </a:rPr>
              <a:t>D</a:t>
            </a:r>
            <a:r>
              <a:rPr dirty="0">
                <a:latin typeface="Montserrat" panose="00000500000000000000" pitchFamily="2" charset="0"/>
              </a:rPr>
              <a:t>oes </a:t>
            </a:r>
            <a:r>
              <a:rPr lang="en-US" dirty="0">
                <a:latin typeface="Montserrat" panose="00000500000000000000" pitchFamily="2" charset="0"/>
              </a:rPr>
              <a:t>t</a:t>
            </a:r>
            <a:r>
              <a:rPr dirty="0">
                <a:latin typeface="Montserrat" panose="00000500000000000000" pitchFamily="2" charset="0"/>
              </a:rPr>
              <a:t>his </a:t>
            </a:r>
            <a:r>
              <a:rPr lang="en-US" dirty="0">
                <a:latin typeface="Montserrat" panose="00000500000000000000" pitchFamily="2" charset="0"/>
              </a:rPr>
              <a:t>M</a:t>
            </a:r>
            <a:r>
              <a:rPr dirty="0">
                <a:latin typeface="Montserrat" panose="00000500000000000000" pitchFamily="2" charset="0"/>
              </a:rPr>
              <a:t>ean and </a:t>
            </a:r>
            <a:r>
              <a:rPr lang="en-US" dirty="0">
                <a:latin typeface="Montserrat" panose="00000500000000000000" pitchFamily="2" charset="0"/>
              </a:rPr>
              <a:t>H</a:t>
            </a:r>
            <a:r>
              <a:rPr dirty="0">
                <a:latin typeface="Montserrat" panose="00000500000000000000" pitchFamily="2" charset="0"/>
              </a:rPr>
              <a:t>ow </a:t>
            </a:r>
            <a:r>
              <a:rPr lang="en-US" dirty="0">
                <a:latin typeface="Montserrat" panose="00000500000000000000" pitchFamily="2" charset="0"/>
              </a:rPr>
              <a:t>D</a:t>
            </a:r>
            <a:r>
              <a:rPr dirty="0">
                <a:latin typeface="Montserrat" panose="00000500000000000000" pitchFamily="2" charset="0"/>
              </a:rPr>
              <a:t>oes it </a:t>
            </a:r>
            <a:r>
              <a:rPr lang="en-US" dirty="0">
                <a:latin typeface="Montserrat" panose="00000500000000000000" pitchFamily="2" charset="0"/>
              </a:rPr>
              <a:t>H</a:t>
            </a:r>
            <a:r>
              <a:rPr dirty="0">
                <a:latin typeface="Montserrat" panose="00000500000000000000" pitchFamily="2" charset="0"/>
              </a:rPr>
              <a:t>elp?</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66" name="Object 2"/>
          <p:cNvSpPr txBox="1"/>
          <p:nvPr/>
        </p:nvSpPr>
        <p:spPr>
          <a:xfrm>
            <a:off x="476130" y="376143"/>
            <a:ext cx="9345805" cy="10780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Radiologist and </a:t>
            </a:r>
            <a:r>
              <a:rPr lang="en-US" dirty="0">
                <a:latin typeface="Montserrat" panose="00000500000000000000" pitchFamily="2" charset="0"/>
              </a:rPr>
              <a:t>C</a:t>
            </a:r>
            <a:r>
              <a:rPr dirty="0">
                <a:latin typeface="Montserrat" panose="00000500000000000000" pitchFamily="2" charset="0"/>
              </a:rPr>
              <a:t>linician </a:t>
            </a:r>
            <a:r>
              <a:rPr lang="en-US" dirty="0">
                <a:latin typeface="Montserrat" panose="00000500000000000000" pitchFamily="2" charset="0"/>
              </a:rPr>
              <a:t>P</a:t>
            </a:r>
            <a:r>
              <a:rPr dirty="0">
                <a:latin typeface="Montserrat" panose="00000500000000000000" pitchFamily="2" charset="0"/>
              </a:rPr>
              <a:t>erformance versus VGG16 Model</a:t>
            </a:r>
          </a:p>
        </p:txBody>
      </p:sp>
      <p:sp>
        <p:nvSpPr>
          <p:cNvPr id="267" name="Object 3"/>
          <p:cNvSpPr/>
          <p:nvPr/>
        </p:nvSpPr>
        <p:spPr>
          <a:xfrm>
            <a:off x="476130" y="2104499"/>
            <a:ext cx="6495222" cy="3894752"/>
          </a:xfrm>
          <a:prstGeom prst="rect">
            <a:avLst/>
          </a:prstGeom>
          <a:solidFill>
            <a:srgbClr val="000000">
              <a:alpha val="0"/>
            </a:srgbClr>
          </a:solidFill>
          <a:ln w="12700">
            <a:miter lim="400000"/>
          </a:ln>
        </p:spPr>
        <p:txBody>
          <a:bodyPr lIns="45719" rIns="45719"/>
          <a:lstStyle/>
          <a:p>
            <a:endParaRPr/>
          </a:p>
        </p:txBody>
      </p:sp>
      <p:pic>
        <p:nvPicPr>
          <p:cNvPr id="268" name="Object 4" descr="Object 4"/>
          <p:cNvPicPr>
            <a:picLocks noChangeAspect="1"/>
          </p:cNvPicPr>
          <p:nvPr/>
        </p:nvPicPr>
        <p:blipFill>
          <a:blip r:embed="rId3"/>
          <a:stretch>
            <a:fillRect/>
          </a:stretch>
        </p:blipFill>
        <p:spPr>
          <a:xfrm>
            <a:off x="380904" y="2104499"/>
            <a:ext cx="6685673" cy="3894752"/>
          </a:xfrm>
          <a:prstGeom prst="rect">
            <a:avLst/>
          </a:prstGeom>
          <a:ln w="12700">
            <a:miter lim="400000"/>
          </a:ln>
        </p:spPr>
      </p:pic>
      <p:sp>
        <p:nvSpPr>
          <p:cNvPr id="269" name="Object 5"/>
          <p:cNvSpPr/>
          <p:nvPr/>
        </p:nvSpPr>
        <p:spPr>
          <a:xfrm>
            <a:off x="7114189" y="2104499"/>
            <a:ext cx="4598632" cy="3894752"/>
          </a:xfrm>
          <a:prstGeom prst="rect">
            <a:avLst/>
          </a:prstGeom>
          <a:solidFill>
            <a:srgbClr val="F5F5F5"/>
          </a:solidFill>
          <a:ln w="12700">
            <a:miter lim="400000"/>
          </a:ln>
        </p:spPr>
        <p:txBody>
          <a:bodyPr lIns="45719" rIns="45719"/>
          <a:lstStyle/>
          <a:p>
            <a:endParaRPr/>
          </a:p>
        </p:txBody>
      </p:sp>
      <p:sp>
        <p:nvSpPr>
          <p:cNvPr id="270" name="Object 6"/>
          <p:cNvSpPr txBox="1"/>
          <p:nvPr/>
        </p:nvSpPr>
        <p:spPr>
          <a:xfrm>
            <a:off x="7255679" y="2797200"/>
            <a:ext cx="4315652"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ts val="2000"/>
              </a:lnSpc>
              <a:defRPr>
                <a:solidFill>
                  <a:srgbClr val="000000">
                    <a:alpha val="80000"/>
                  </a:srgbClr>
                </a:solidFill>
                <a:latin typeface="Montserrat Thin Bold"/>
                <a:ea typeface="Montserrat Thin Bold"/>
                <a:cs typeface="Montserrat Thin Bold"/>
                <a:sym typeface="Montserrat Thin Bold"/>
              </a:defRPr>
            </a:pPr>
            <a:r>
              <a:rPr b="1" dirty="0">
                <a:latin typeface="Montserrat" panose="00000500000000000000" pitchFamily="2" charset="0"/>
              </a:rPr>
              <a:t>Recall (sensitivity)</a:t>
            </a:r>
            <a:r>
              <a:rPr b="1" dirty="0">
                <a:latin typeface="Montserrat" panose="00000500000000000000" pitchFamily="2" charset="0"/>
                <a:ea typeface="Montserrat Thin Regular"/>
                <a:cs typeface="Montserrat Thin Regular"/>
                <a:sym typeface="Montserrat Thin Regular"/>
              </a:rPr>
              <a:t> </a:t>
            </a:r>
            <a:r>
              <a:rPr lang="en-US" dirty="0">
                <a:latin typeface="Montserrat" panose="00000500000000000000" pitchFamily="2" charset="0"/>
                <a:ea typeface="Montserrat Thin Regular"/>
                <a:cs typeface="Montserrat Thin Regular"/>
                <a:sym typeface="Montserrat Thin Regular"/>
              </a:rPr>
              <a:t>Measures how often the system/individual correctly detects pneumonia when it is present.</a:t>
            </a:r>
            <a:endParaRPr dirty="0">
              <a:latin typeface="Montserrat" panose="00000500000000000000" pitchFamily="2" charset="0"/>
              <a:ea typeface="Montserrat Thin Regular"/>
              <a:cs typeface="Montserrat Thin Regular"/>
              <a:sym typeface="Montserrat Thin Regular"/>
            </a:endParaRPr>
          </a:p>
        </p:txBody>
      </p:sp>
      <p:sp>
        <p:nvSpPr>
          <p:cNvPr id="271" name="Object 7"/>
          <p:cNvSpPr txBox="1"/>
          <p:nvPr/>
        </p:nvSpPr>
        <p:spPr>
          <a:xfrm>
            <a:off x="7292421" y="4499733"/>
            <a:ext cx="4315652"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ts val="2000"/>
              </a:lnSpc>
              <a:spcBef>
                <a:spcPts val="1400"/>
              </a:spcBef>
              <a:defRPr>
                <a:solidFill>
                  <a:srgbClr val="000000">
                    <a:alpha val="80000"/>
                  </a:srgbClr>
                </a:solidFill>
                <a:latin typeface="Montserrat Thin Bold"/>
                <a:ea typeface="Montserrat Thin Bold"/>
                <a:cs typeface="Montserrat Thin Bold"/>
                <a:sym typeface="Montserrat Thin Bold"/>
              </a:defRPr>
            </a:pPr>
            <a:r>
              <a:rPr b="1" dirty="0">
                <a:latin typeface="Montserrat" panose="00000500000000000000" pitchFamily="2" charset="0"/>
              </a:rPr>
              <a:t>Specificity</a:t>
            </a:r>
            <a:r>
              <a:rPr dirty="0">
                <a:latin typeface="Montserrat" panose="00000500000000000000" pitchFamily="2" charset="0"/>
                <a:ea typeface="Montserrat Thin Regular"/>
                <a:cs typeface="Montserrat Thin Regular"/>
                <a:sym typeface="Montserrat Thin Regular"/>
              </a:rPr>
              <a:t> </a:t>
            </a:r>
            <a:r>
              <a:rPr lang="en-US" dirty="0">
                <a:latin typeface="Montserrat" panose="00000500000000000000" pitchFamily="2" charset="0"/>
                <a:ea typeface="Montserrat Thin Regular"/>
                <a:cs typeface="Montserrat Thin Regular"/>
                <a:sym typeface="Montserrat Thin Regular"/>
              </a:rPr>
              <a:t>Measures how often the system correctly identifies healthy patients.</a:t>
            </a:r>
            <a:endParaRPr dirty="0">
              <a:latin typeface="Montserrat" panose="00000500000000000000" pitchFamily="2" charset="0"/>
              <a:ea typeface="Montserrat Thin Regular"/>
              <a:cs typeface="Montserrat Thin Regular"/>
              <a:sym typeface="Montserrat Thin Regular"/>
            </a:endParaRPr>
          </a:p>
        </p:txBody>
      </p:sp>
      <p:pic>
        <p:nvPicPr>
          <p:cNvPr id="272" name="Object 8" descr="Object 8"/>
          <p:cNvPicPr>
            <a:picLocks noChangeAspect="1"/>
          </p:cNvPicPr>
          <p:nvPr/>
        </p:nvPicPr>
        <p:blipFill>
          <a:blip r:embed="rId4"/>
          <a:stretch>
            <a:fillRect/>
          </a:stretch>
        </p:blipFill>
        <p:spPr>
          <a:xfrm>
            <a:off x="11170032" y="6531303"/>
            <a:ext cx="876082" cy="173833"/>
          </a:xfrm>
          <a:prstGeom prst="rect">
            <a:avLst/>
          </a:prstGeom>
          <a:ln w="12700">
            <a:miter lim="400000"/>
          </a:ln>
        </p:spPr>
      </p:pic>
      <p:sp>
        <p:nvSpPr>
          <p:cNvPr id="273" name="Object 9"/>
          <p:cNvSpPr txBox="1"/>
          <p:nvPr/>
        </p:nvSpPr>
        <p:spPr>
          <a:xfrm>
            <a:off x="961783" y="6553306"/>
            <a:ext cx="1026538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900"/>
              </a:lnSpc>
              <a:defRPr sz="800">
                <a:solidFill>
                  <a:srgbClr val="FFFFFF">
                    <a:alpha val="80000"/>
                  </a:srgbClr>
                </a:solidFill>
                <a:latin typeface="Montserrat Thin Regular"/>
                <a:ea typeface="Montserrat Thin Regular"/>
                <a:cs typeface="Montserrat Thin Regular"/>
                <a:sym typeface="Montserrat Thin Regular"/>
              </a:defRPr>
            </a:lvl1pPr>
          </a:lstStyle>
          <a:p>
            <a:r>
              <a:t>©2025 Inteleos Inc. Proprietary and Confidential. All Rights Reserved.</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Object 1"/>
          <p:cNvSpPr/>
          <p:nvPr/>
        </p:nvSpPr>
        <p:spPr>
          <a:xfrm>
            <a:off x="476130" y="476130"/>
            <a:ext cx="3483375" cy="5904026"/>
          </a:xfrm>
          <a:prstGeom prst="rect">
            <a:avLst/>
          </a:prstGeom>
          <a:solidFill>
            <a:srgbClr val="DC582A"/>
          </a:solidFill>
          <a:ln w="12700">
            <a:miter lim="400000"/>
          </a:ln>
        </p:spPr>
        <p:txBody>
          <a:bodyPr lIns="45719" rIns="45719"/>
          <a:lstStyle/>
          <a:p>
            <a:endParaRPr>
              <a:latin typeface="Montserrat" panose="00000500000000000000" pitchFamily="2" charset="0"/>
            </a:endParaRPr>
          </a:p>
        </p:txBody>
      </p:sp>
      <p:pic>
        <p:nvPicPr>
          <p:cNvPr id="276" name="Object 2" descr="Object 2"/>
          <p:cNvPicPr>
            <a:picLocks noChangeAspect="1"/>
          </p:cNvPicPr>
          <p:nvPr/>
        </p:nvPicPr>
        <p:blipFill>
          <a:blip r:embed="rId2"/>
          <a:srcRect l="23027" r="23027"/>
          <a:stretch>
            <a:fillRect/>
          </a:stretch>
        </p:blipFill>
        <p:spPr>
          <a:xfrm>
            <a:off x="476130" y="476130"/>
            <a:ext cx="3483374" cy="5904025"/>
          </a:xfrm>
          <a:prstGeom prst="rect">
            <a:avLst/>
          </a:prstGeom>
          <a:ln w="12700">
            <a:miter lim="400000"/>
          </a:ln>
        </p:spPr>
      </p:pic>
      <p:sp>
        <p:nvSpPr>
          <p:cNvPr id="277" name="Object 3"/>
          <p:cNvSpPr txBox="1"/>
          <p:nvPr/>
        </p:nvSpPr>
        <p:spPr>
          <a:xfrm>
            <a:off x="4072823" y="2160695"/>
            <a:ext cx="8002810" cy="54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4200"/>
              </a:lnSpc>
              <a:defRPr sz="3700">
                <a:solidFill>
                  <a:srgbClr val="FFFFFF"/>
                </a:solidFill>
                <a:latin typeface="Montserrat Thin Bold"/>
                <a:ea typeface="Montserrat Thin Bold"/>
                <a:cs typeface="Montserrat Thin Bold"/>
                <a:sym typeface="Montserrat Thin Bold"/>
              </a:defRPr>
            </a:lvl1pPr>
          </a:lstStyle>
          <a:p>
            <a:r>
              <a:rPr dirty="0">
                <a:latin typeface="Montserrat" panose="00000500000000000000" pitchFamily="2" charset="0"/>
              </a:rPr>
              <a:t>Real-World Impact</a:t>
            </a:r>
          </a:p>
        </p:txBody>
      </p:sp>
      <p:sp>
        <p:nvSpPr>
          <p:cNvPr id="278" name="Object 4"/>
          <p:cNvSpPr txBox="1"/>
          <p:nvPr/>
        </p:nvSpPr>
        <p:spPr>
          <a:xfrm>
            <a:off x="4072823" y="2967725"/>
            <a:ext cx="8002810" cy="1530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2000"/>
              </a:lnSpc>
              <a:spcBef>
                <a:spcPts val="1000"/>
              </a:spcBef>
              <a:defRPr>
                <a:solidFill>
                  <a:srgbClr val="FFFFFF">
                    <a:alpha val="80000"/>
                  </a:srgbClr>
                </a:solidFill>
                <a:latin typeface="Montserrat Thin Regular"/>
                <a:ea typeface="Montserrat Thin Regular"/>
                <a:cs typeface="Montserrat Thin Regular"/>
                <a:sym typeface="Montserrat Thin Regular"/>
              </a:defRPr>
            </a:lvl1pPr>
          </a:lstStyle>
          <a:p>
            <a:r>
              <a:rPr>
                <a:latin typeface="Montserrat" panose="00000500000000000000" pitchFamily="2" charset="0"/>
              </a:rPr>
              <a:t>The high recall achieved by the deep learning models is critical in a clinical setting, where missing a pneumonia diagnosis could lead to delayed treatment and serious consequences for patients. There is potential for this work to transform healthcare by enabling early and accurate pneumonia detection, which can significantly improve patient outcomes and treatment strategies.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pic>
        <p:nvPicPr>
          <p:cNvPr id="280" name="Object 1" descr="Object 1"/>
          <p:cNvPicPr>
            <a:picLocks noChangeAspect="1"/>
          </p:cNvPicPr>
          <p:nvPr/>
        </p:nvPicPr>
        <p:blipFill>
          <a:blip r:embed="rId2"/>
          <a:stretch>
            <a:fillRect/>
          </a:stretch>
        </p:blipFill>
        <p:spPr>
          <a:xfrm>
            <a:off x="0" y="0"/>
            <a:ext cx="12198475" cy="76182"/>
          </a:xfrm>
          <a:prstGeom prst="rect">
            <a:avLst/>
          </a:prstGeom>
          <a:ln w="12700">
            <a:miter lim="400000"/>
          </a:ln>
        </p:spPr>
      </p:pic>
      <p:sp>
        <p:nvSpPr>
          <p:cNvPr id="281" name="Object 2"/>
          <p:cNvSpPr txBox="1"/>
          <p:nvPr/>
        </p:nvSpPr>
        <p:spPr>
          <a:xfrm>
            <a:off x="476130" y="376142"/>
            <a:ext cx="12188954" cy="5446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4200"/>
              </a:lnSpc>
              <a:defRPr sz="3700">
                <a:latin typeface="Montserrat Thin Bold"/>
                <a:ea typeface="Montserrat Thin Bold"/>
                <a:cs typeface="Montserrat Thin Bold"/>
                <a:sym typeface="Montserrat Thin Bold"/>
              </a:defRPr>
            </a:lvl1pPr>
          </a:lstStyle>
          <a:p>
            <a:r>
              <a:rPr>
                <a:latin typeface="Montserrat" panose="00000500000000000000" pitchFamily="2" charset="0"/>
              </a:rPr>
              <a:t>Conclusion</a:t>
            </a:r>
          </a:p>
        </p:txBody>
      </p:sp>
      <p:sp>
        <p:nvSpPr>
          <p:cNvPr id="282" name="Object 3"/>
          <p:cNvSpPr/>
          <p:nvPr/>
        </p:nvSpPr>
        <p:spPr>
          <a:xfrm>
            <a:off x="1476006"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83" name="Object 4"/>
          <p:cNvSpPr/>
          <p:nvPr/>
        </p:nvSpPr>
        <p:spPr>
          <a:xfrm>
            <a:off x="1476006"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84" name="Object 5" descr="Object 5"/>
          <p:cNvPicPr>
            <a:picLocks noChangeAspect="1"/>
          </p:cNvPicPr>
          <p:nvPr/>
        </p:nvPicPr>
        <p:blipFill>
          <a:blip r:embed="rId3"/>
          <a:stretch>
            <a:fillRect/>
          </a:stretch>
        </p:blipFill>
        <p:spPr>
          <a:xfrm>
            <a:off x="1905630" y="2142699"/>
            <a:ext cx="561836" cy="476132"/>
          </a:xfrm>
          <a:prstGeom prst="rect">
            <a:avLst/>
          </a:prstGeom>
          <a:ln w="12700">
            <a:miter lim="400000"/>
          </a:ln>
        </p:spPr>
      </p:pic>
      <p:sp>
        <p:nvSpPr>
          <p:cNvPr id="285" name="Object 6"/>
          <p:cNvSpPr txBox="1"/>
          <p:nvPr/>
        </p:nvSpPr>
        <p:spPr>
          <a:xfrm>
            <a:off x="550882" y="3194467"/>
            <a:ext cx="3278639"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Demonstrated power of deep learning</a:t>
            </a:r>
          </a:p>
        </p:txBody>
      </p:sp>
      <p:sp>
        <p:nvSpPr>
          <p:cNvPr id="286" name="Object 7"/>
          <p:cNvSpPr txBox="1"/>
          <p:nvPr/>
        </p:nvSpPr>
        <p:spPr>
          <a:xfrm>
            <a:off x="550882" y="3808750"/>
            <a:ext cx="3278639" cy="1226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solidFill>
                  <a:schemeClr val="tx1">
                    <a:alpha val="80000"/>
                  </a:schemeClr>
                </a:solidFill>
                <a:latin typeface="Montserrat" panose="00000500000000000000" pitchFamily="2" charset="0"/>
              </a:rPr>
              <a:t>Developed highly accurate and reliable diagnostic tool for pneumonia detection using advanced machine learning techniques, particularly deep learning models.</a:t>
            </a:r>
          </a:p>
        </p:txBody>
      </p:sp>
      <p:sp>
        <p:nvSpPr>
          <p:cNvPr id="287" name="Object 8"/>
          <p:cNvSpPr/>
          <p:nvPr/>
        </p:nvSpPr>
        <p:spPr>
          <a:xfrm>
            <a:off x="5380280"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88" name="Object 9"/>
          <p:cNvSpPr/>
          <p:nvPr/>
        </p:nvSpPr>
        <p:spPr>
          <a:xfrm>
            <a:off x="5380280"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89" name="Object 10" descr="Object 10"/>
          <p:cNvPicPr>
            <a:picLocks noChangeAspect="1"/>
          </p:cNvPicPr>
          <p:nvPr/>
        </p:nvPicPr>
        <p:blipFill>
          <a:blip r:embed="rId4"/>
          <a:stretch>
            <a:fillRect/>
          </a:stretch>
        </p:blipFill>
        <p:spPr>
          <a:xfrm>
            <a:off x="5726224" y="2050633"/>
            <a:ext cx="733243" cy="666584"/>
          </a:xfrm>
          <a:prstGeom prst="rect">
            <a:avLst/>
          </a:prstGeom>
          <a:ln w="12700">
            <a:miter lim="400000"/>
          </a:ln>
        </p:spPr>
      </p:pic>
      <p:sp>
        <p:nvSpPr>
          <p:cNvPr id="290" name="Object 11"/>
          <p:cNvSpPr txBox="1"/>
          <p:nvPr/>
        </p:nvSpPr>
        <p:spPr>
          <a:xfrm>
            <a:off x="4219471" y="3194467"/>
            <a:ext cx="3750008"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Potential to transform healthcare</a:t>
            </a:r>
          </a:p>
        </p:txBody>
      </p:sp>
      <p:sp>
        <p:nvSpPr>
          <p:cNvPr id="291" name="Object 12"/>
          <p:cNvSpPr txBox="1"/>
          <p:nvPr/>
        </p:nvSpPr>
        <p:spPr>
          <a:xfrm>
            <a:off x="4219471" y="3808750"/>
            <a:ext cx="3750008" cy="1023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dirty="0">
                <a:latin typeface="Montserrat" panose="00000500000000000000" pitchFamily="2" charset="0"/>
              </a:rPr>
              <a:t>Has the potential to significantly improve early detection and treatment of pneumonia in healthcare settings, enabling better patient outcomes and more efficient treatment strategies.</a:t>
            </a:r>
          </a:p>
        </p:txBody>
      </p:sp>
      <p:sp>
        <p:nvSpPr>
          <p:cNvPr id="292" name="Object 13"/>
          <p:cNvSpPr/>
          <p:nvPr/>
        </p:nvSpPr>
        <p:spPr>
          <a:xfrm>
            <a:off x="9284552" y="1671220"/>
            <a:ext cx="1428395" cy="1428395"/>
          </a:xfrm>
          <a:prstGeom prst="ellipse">
            <a:avLst/>
          </a:prstGeom>
          <a:solidFill>
            <a:srgbClr val="DC582A">
              <a:alpha val="30000"/>
            </a:srgbClr>
          </a:solidFill>
          <a:ln w="25400">
            <a:solidFill>
              <a:srgbClr val="DC582A"/>
            </a:solidFill>
            <a:miter/>
          </a:ln>
        </p:spPr>
        <p:txBody>
          <a:bodyPr lIns="45719" rIns="45719"/>
          <a:lstStyle/>
          <a:p>
            <a:endParaRPr>
              <a:latin typeface="Montserrat" panose="00000500000000000000" pitchFamily="2" charset="0"/>
            </a:endParaRPr>
          </a:p>
        </p:txBody>
      </p:sp>
      <p:sp>
        <p:nvSpPr>
          <p:cNvPr id="293" name="Object 14"/>
          <p:cNvSpPr/>
          <p:nvPr/>
        </p:nvSpPr>
        <p:spPr>
          <a:xfrm>
            <a:off x="9284552" y="1671220"/>
            <a:ext cx="1428395" cy="1428395"/>
          </a:xfrm>
          <a:prstGeom prst="ellipse">
            <a:avLst/>
          </a:prstGeom>
          <a:ln w="25400">
            <a:solidFill>
              <a:srgbClr val="DC582A"/>
            </a:solidFill>
            <a:miter/>
          </a:ln>
        </p:spPr>
        <p:txBody>
          <a:bodyPr lIns="45719" rIns="45719"/>
          <a:lstStyle/>
          <a:p>
            <a:endParaRPr>
              <a:latin typeface="Montserrat" panose="00000500000000000000" pitchFamily="2" charset="0"/>
            </a:endParaRPr>
          </a:p>
        </p:txBody>
      </p:sp>
      <p:pic>
        <p:nvPicPr>
          <p:cNvPr id="294" name="Object 15" descr="Object 15"/>
          <p:cNvPicPr>
            <a:picLocks noChangeAspect="1"/>
          </p:cNvPicPr>
          <p:nvPr/>
        </p:nvPicPr>
        <p:blipFill>
          <a:blip r:embed="rId5"/>
          <a:stretch>
            <a:fillRect/>
          </a:stretch>
        </p:blipFill>
        <p:spPr>
          <a:xfrm>
            <a:off x="9588644" y="2117587"/>
            <a:ext cx="818946" cy="542791"/>
          </a:xfrm>
          <a:prstGeom prst="rect">
            <a:avLst/>
          </a:prstGeom>
          <a:ln w="12700">
            <a:miter lim="400000"/>
          </a:ln>
        </p:spPr>
      </p:pic>
      <p:sp>
        <p:nvSpPr>
          <p:cNvPr id="295" name="Object 16"/>
          <p:cNvSpPr txBox="1"/>
          <p:nvPr/>
        </p:nvSpPr>
        <p:spPr>
          <a:xfrm>
            <a:off x="8144695" y="3194467"/>
            <a:ext cx="3708109" cy="514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2000"/>
              </a:lnSpc>
              <a:defRPr>
                <a:latin typeface="Montserrat Thin Regular"/>
                <a:ea typeface="Montserrat Thin Regular"/>
                <a:cs typeface="Montserrat Thin Regular"/>
                <a:sym typeface="Montserrat Thin Regular"/>
              </a:defRPr>
            </a:lvl1pPr>
          </a:lstStyle>
          <a:p>
            <a:r>
              <a:rPr b="1" dirty="0">
                <a:latin typeface="Montserrat" panose="00000500000000000000" pitchFamily="2" charset="0"/>
              </a:rPr>
              <a:t>Contribution to 'Uncharted &amp; Unstoppable'</a:t>
            </a:r>
          </a:p>
        </p:txBody>
      </p:sp>
      <p:sp>
        <p:nvSpPr>
          <p:cNvPr id="296" name="Object 17"/>
          <p:cNvSpPr txBox="1"/>
          <p:nvPr/>
        </p:nvSpPr>
        <p:spPr>
          <a:xfrm>
            <a:off x="8144695" y="3808750"/>
            <a:ext cx="3708109" cy="819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ts val="1600"/>
              </a:lnSpc>
              <a:spcBef>
                <a:spcPts val="700"/>
              </a:spcBef>
              <a:defRPr sz="1500">
                <a:solidFill>
                  <a:srgbClr val="000000">
                    <a:alpha val="80000"/>
                  </a:srgbClr>
                </a:solidFill>
                <a:latin typeface="Montserrat Thin Regular"/>
                <a:ea typeface="Montserrat Thin Regular"/>
                <a:cs typeface="Montserrat Thin Regular"/>
                <a:sym typeface="Montserrat Thin Regular"/>
              </a:defRPr>
            </a:lvl1pPr>
          </a:lstStyle>
          <a:p>
            <a:r>
              <a:rPr lang="en-US" dirty="0">
                <a:latin typeface="Montserrat" panose="00000500000000000000" pitchFamily="2" charset="0"/>
              </a:rPr>
              <a:t>This study showcases how innovative technology can drive meaningful change and push boundaries in healthcare.</a:t>
            </a:r>
            <a:endParaRPr dirty="0">
              <a:latin typeface="Montserrat" panose="00000500000000000000" pitchFamily="2" charset="0"/>
            </a:endParaRPr>
          </a:p>
        </p:txBody>
      </p:sp>
      <p:sp>
        <p:nvSpPr>
          <p:cNvPr id="297" name="Object 18"/>
          <p:cNvSpPr/>
          <p:nvPr/>
        </p:nvSpPr>
        <p:spPr>
          <a:xfrm>
            <a:off x="-1" y="5627868"/>
            <a:ext cx="12188954" cy="1228419"/>
          </a:xfrm>
          <a:prstGeom prst="rect">
            <a:avLst/>
          </a:prstGeom>
          <a:solidFill>
            <a:srgbClr val="758CC0"/>
          </a:solidFill>
          <a:ln w="12700">
            <a:miter lim="400000"/>
          </a:ln>
        </p:spPr>
        <p:txBody>
          <a:bodyPr lIns="45719" rIns="45719"/>
          <a:lstStyle/>
          <a:p>
            <a:endParaRPr>
              <a:latin typeface="Montserrat" panose="00000500000000000000" pitchFamily="2" charset="0"/>
            </a:endParaRPr>
          </a:p>
        </p:txBody>
      </p:sp>
      <p:sp>
        <p:nvSpPr>
          <p:cNvPr id="298" name="Object 19"/>
          <p:cNvSpPr txBox="1"/>
          <p:nvPr/>
        </p:nvSpPr>
        <p:spPr>
          <a:xfrm>
            <a:off x="867511" y="5989466"/>
            <a:ext cx="10453931" cy="5005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1300"/>
              </a:lnSpc>
              <a:defRPr sz="1200">
                <a:solidFill>
                  <a:srgbClr val="FFFFFF"/>
                </a:solidFill>
                <a:latin typeface="Montserrat Thin Regular"/>
                <a:ea typeface="Montserrat Thin Regular"/>
                <a:cs typeface="Montserrat Thin Regular"/>
                <a:sym typeface="Montserrat Thin Regular"/>
              </a:defRPr>
            </a:lvl1pPr>
          </a:lstStyle>
          <a:p>
            <a:r>
              <a:rPr i="1" dirty="0">
                <a:latin typeface="Montserrat" panose="00000500000000000000" pitchFamily="2" charset="0"/>
              </a:rPr>
              <a:t>This study demonstrates the remarkable potential of deep learning in developing accurate and reliable diagnostic tools for pneumonia detection in chest X-ray images. The researchers' work has the power to revolutionize healthcare by enabling early and precise diagnosis, leading to improved patient outcomes and more efficient treatment strategies.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C582A"/>
        </a:solidFill>
        <a:effectLst/>
      </p:bgPr>
    </p:bg>
    <p:spTree>
      <p:nvGrpSpPr>
        <p:cNvPr id="1" name="">
          <a:extLst>
            <a:ext uri="{FF2B5EF4-FFF2-40B4-BE49-F238E27FC236}">
              <a16:creationId xmlns:a16="http://schemas.microsoft.com/office/drawing/2014/main" id="{2B365B6D-EE85-6C53-4E66-7AF90E09CE43}"/>
            </a:ext>
          </a:extLst>
        </p:cNvPr>
        <p:cNvGrpSpPr/>
        <p:nvPr/>
      </p:nvGrpSpPr>
      <p:grpSpPr>
        <a:xfrm>
          <a:off x="0" y="0"/>
          <a:ext cx="0" cy="0"/>
          <a:chOff x="0" y="0"/>
          <a:chExt cx="0" cy="0"/>
        </a:xfrm>
      </p:grpSpPr>
      <p:sp>
        <p:nvSpPr>
          <p:cNvPr id="170" name="Object 2">
            <a:extLst>
              <a:ext uri="{FF2B5EF4-FFF2-40B4-BE49-F238E27FC236}">
                <a16:creationId xmlns:a16="http://schemas.microsoft.com/office/drawing/2014/main" id="{6F513719-AA42-FB53-B524-496CB7EBD4BF}"/>
              </a:ext>
            </a:extLst>
          </p:cNvPr>
          <p:cNvSpPr txBox="1"/>
          <p:nvPr/>
        </p:nvSpPr>
        <p:spPr>
          <a:xfrm>
            <a:off x="825227" y="3108183"/>
            <a:ext cx="10541541" cy="7566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900"/>
              </a:lnSpc>
              <a:spcBef>
                <a:spcPts val="900"/>
              </a:spcBef>
              <a:defRPr sz="5600">
                <a:solidFill>
                  <a:srgbClr val="FFFFFF"/>
                </a:solidFill>
                <a:latin typeface="Montserrat Thin Bold"/>
                <a:ea typeface="Montserrat Thin Bold"/>
                <a:cs typeface="Montserrat Thin Bold"/>
                <a:sym typeface="Montserrat Thin Bold"/>
              </a:defRPr>
            </a:lvl1pPr>
          </a:lstStyle>
          <a:p>
            <a:pPr marL="0" marR="0" lvl="0" indent="0" algn="ctr" defTabSz="914400" rtl="0" eaLnBrk="1" fontAlgn="auto" latinLnBrk="0" hangingPunct="0">
              <a:lnSpc>
                <a:spcPts val="5900"/>
              </a:lnSpc>
              <a:spcBef>
                <a:spcPts val="900"/>
              </a:spcBef>
              <a:spcAft>
                <a:spcPts val="0"/>
              </a:spcAft>
              <a:buClrTx/>
              <a:buSzTx/>
              <a:buFontTx/>
              <a:buNone/>
              <a:tabLst/>
              <a:defRPr/>
            </a:pPr>
            <a:r>
              <a:rPr kumimoji="0" lang="en-US" sz="5600" b="0" i="0" u="none" strike="noStrike" kern="0" cap="none" spc="0" normalizeH="0" baseline="0" noProof="0" dirty="0">
                <a:ln>
                  <a:noFill/>
                </a:ln>
                <a:solidFill>
                  <a:srgbClr val="FFFFFF"/>
                </a:solidFill>
                <a:effectLst/>
                <a:uLnTx/>
                <a:uFillTx/>
                <a:latin typeface="Montserrat" panose="00000500000000000000" pitchFamily="2" charset="0"/>
                <a:sym typeface="Montserrat Thin Bold"/>
              </a:rPr>
              <a:t>Thank you!</a:t>
            </a:r>
            <a:endParaRPr kumimoji="0" sz="5600" b="0" i="0" u="none" strike="noStrike" kern="0" cap="none" spc="0" normalizeH="0" baseline="0" noProof="0" dirty="0">
              <a:ln>
                <a:noFill/>
              </a:ln>
              <a:solidFill>
                <a:srgbClr val="FFFFFF"/>
              </a:solidFill>
              <a:effectLst/>
              <a:uLnTx/>
              <a:uFillTx/>
              <a:latin typeface="Montserrat" panose="00000500000000000000" pitchFamily="2" charset="0"/>
              <a:sym typeface="Montserrat Thin Bold"/>
            </a:endParaRPr>
          </a:p>
        </p:txBody>
      </p:sp>
      <p:pic>
        <p:nvPicPr>
          <p:cNvPr id="3" name="Picture 2" descr="A cat sitting on a couch&#10;&#10;AI-generated content may be incorrect.">
            <a:extLst>
              <a:ext uri="{FF2B5EF4-FFF2-40B4-BE49-F238E27FC236}">
                <a16:creationId xmlns:a16="http://schemas.microsoft.com/office/drawing/2014/main" id="{C00B5A6F-2F1B-9109-47CE-9EBCFA94C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3589" y="168638"/>
            <a:ext cx="1819175" cy="3234087"/>
          </a:xfrm>
          <a:prstGeom prst="rect">
            <a:avLst/>
          </a:prstGeom>
        </p:spPr>
      </p:pic>
      <p:pic>
        <p:nvPicPr>
          <p:cNvPr id="7" name="Picture 6" descr="A cat and dog lying on a couch&#10;&#10;AI-generated content may be incorrect.">
            <a:extLst>
              <a:ext uri="{FF2B5EF4-FFF2-40B4-BE49-F238E27FC236}">
                <a16:creationId xmlns:a16="http://schemas.microsoft.com/office/drawing/2014/main" id="{08C8478B-F62C-6012-A643-E85A633059F7}"/>
              </a:ext>
            </a:extLst>
          </p:cNvPr>
          <p:cNvPicPr>
            <a:picLocks noChangeAspect="1"/>
          </p:cNvPicPr>
          <p:nvPr/>
        </p:nvPicPr>
        <p:blipFill>
          <a:blip r:embed="rId3" cstate="print">
            <a:extLst>
              <a:ext uri="{28A0092B-C50C-407E-A947-70E740481C1C}">
                <a14:useLocalDpi xmlns:a14="http://schemas.microsoft.com/office/drawing/2010/main" val="0"/>
              </a:ext>
            </a:extLst>
          </a:blip>
          <a:srcRect t="4842" b="14818"/>
          <a:stretch/>
        </p:blipFill>
        <p:spPr>
          <a:xfrm>
            <a:off x="8586006" y="223658"/>
            <a:ext cx="3019124" cy="3234088"/>
          </a:xfrm>
          <a:prstGeom prst="rect">
            <a:avLst/>
          </a:prstGeom>
        </p:spPr>
      </p:pic>
      <p:pic>
        <p:nvPicPr>
          <p:cNvPr id="9" name="Picture 8" descr="A dog sitting on the floor&#10;&#10;AI-generated content may be incorrect.">
            <a:extLst>
              <a:ext uri="{FF2B5EF4-FFF2-40B4-BE49-F238E27FC236}">
                <a16:creationId xmlns:a16="http://schemas.microsoft.com/office/drawing/2014/main" id="{57339CA9-961E-E753-EE82-FCCB1C7653BE}"/>
              </a:ext>
            </a:extLst>
          </p:cNvPr>
          <p:cNvPicPr>
            <a:picLocks noChangeAspect="1"/>
          </p:cNvPicPr>
          <p:nvPr/>
        </p:nvPicPr>
        <p:blipFill>
          <a:blip r:embed="rId4" cstate="print">
            <a:extLst>
              <a:ext uri="{28A0092B-C50C-407E-A947-70E740481C1C}">
                <a14:useLocalDpi xmlns:a14="http://schemas.microsoft.com/office/drawing/2010/main" val="0"/>
              </a:ext>
            </a:extLst>
          </a:blip>
          <a:srcRect l="17403"/>
          <a:stretch/>
        </p:blipFill>
        <p:spPr>
          <a:xfrm rot="5400000">
            <a:off x="4654972" y="301171"/>
            <a:ext cx="2882053" cy="2616987"/>
          </a:xfrm>
          <a:prstGeom prst="rect">
            <a:avLst/>
          </a:prstGeom>
        </p:spPr>
      </p:pic>
      <p:pic>
        <p:nvPicPr>
          <p:cNvPr id="11" name="Picture 10" descr="Two dogs sitting on a deck&#10;&#10;AI-generated content may be incorrect.">
            <a:extLst>
              <a:ext uri="{FF2B5EF4-FFF2-40B4-BE49-F238E27FC236}">
                <a16:creationId xmlns:a16="http://schemas.microsoft.com/office/drawing/2014/main" id="{B82E299A-3F7D-A7F6-DF9C-5D52B6029F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68202" y="3922292"/>
            <a:ext cx="2055596" cy="2740795"/>
          </a:xfrm>
          <a:prstGeom prst="rect">
            <a:avLst/>
          </a:prstGeom>
        </p:spPr>
      </p:pic>
      <p:pic>
        <p:nvPicPr>
          <p:cNvPr id="13" name="Picture 12" descr="A cat lying on a couch&#10;&#10;AI-generated content may be incorrect.">
            <a:extLst>
              <a:ext uri="{FF2B5EF4-FFF2-40B4-BE49-F238E27FC236}">
                <a16:creationId xmlns:a16="http://schemas.microsoft.com/office/drawing/2014/main" id="{45267F99-CBDE-4221-64D7-5F50203DD8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602780" y="4149908"/>
            <a:ext cx="2740794" cy="2055595"/>
          </a:xfrm>
          <a:prstGeom prst="rect">
            <a:avLst/>
          </a:prstGeom>
        </p:spPr>
      </p:pic>
      <p:pic>
        <p:nvPicPr>
          <p:cNvPr id="15" name="Picture 14" descr="A dog sitting on a rug&#10;&#10;AI-generated content may be incorrect.">
            <a:extLst>
              <a:ext uri="{FF2B5EF4-FFF2-40B4-BE49-F238E27FC236}">
                <a16:creationId xmlns:a16="http://schemas.microsoft.com/office/drawing/2014/main" id="{313B0814-D10D-0613-D07E-F50C1CE2206E}"/>
              </a:ext>
            </a:extLst>
          </p:cNvPr>
          <p:cNvPicPr>
            <a:picLocks noChangeAspect="1"/>
          </p:cNvPicPr>
          <p:nvPr/>
        </p:nvPicPr>
        <p:blipFill>
          <a:blip r:embed="rId7" cstate="print">
            <a:extLst>
              <a:ext uri="{28A0092B-C50C-407E-A947-70E740481C1C}">
                <a14:useLocalDpi xmlns:a14="http://schemas.microsoft.com/office/drawing/2010/main" val="0"/>
              </a:ext>
            </a:extLst>
          </a:blip>
          <a:srcRect l="17965" t="14694" r="18877"/>
          <a:stretch/>
        </p:blipFill>
        <p:spPr>
          <a:xfrm rot="5400000">
            <a:off x="8728298" y="3789481"/>
            <a:ext cx="2740794" cy="2776449"/>
          </a:xfrm>
          <a:prstGeom prst="rect">
            <a:avLst/>
          </a:prstGeom>
        </p:spPr>
      </p:pic>
    </p:spTree>
    <p:extLst>
      <p:ext uri="{BB962C8B-B14F-4D97-AF65-F5344CB8AC3E}">
        <p14:creationId xmlns:p14="http://schemas.microsoft.com/office/powerpoint/2010/main" val="3695992718"/>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457</TotalTime>
  <Words>1250</Words>
  <Application>Microsoft Office PowerPoint</Application>
  <PresentationFormat>Widescreen</PresentationFormat>
  <Paragraphs>175</Paragraphs>
  <Slides>29</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Aptos</vt:lpstr>
      <vt:lpstr>Arial</vt:lpstr>
      <vt:lpstr>Montserrat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Denali Carpenter</dc:creator>
  <cp:lastModifiedBy>Denali Carpenter</cp:lastModifiedBy>
  <cp:revision>7</cp:revision>
  <dcterms:modified xsi:type="dcterms:W3CDTF">2025-03-27T20:13:24Z</dcterms:modified>
</cp:coreProperties>
</file>